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6B47"/>
    <a:srgbClr val="4535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23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7043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microsoft.com/office/2007/relationships/hdphoto" Target="../media/hdphoto2.wd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6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4.png"/><Relationship Id="rId10" Type="http://schemas.openxmlformats.org/officeDocument/2006/relationships/image" Target="../media/image21.png"/><Relationship Id="rId4" Type="http://schemas.openxmlformats.org/officeDocument/2006/relationships/image" Target="../media/image17.png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1.png"/><Relationship Id="rId4" Type="http://schemas.microsoft.com/office/2007/relationships/hdphoto" Target="../media/hdphoto3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7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20.png"/><Relationship Id="rId4" Type="http://schemas.openxmlformats.org/officeDocument/2006/relationships/image" Target="../media/image17.png"/><Relationship Id="rId9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2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463040"/>
            <a:ext cx="5029200" cy="5029200"/>
          </a:xfrm>
          <a:prstGeom prst="ellipse">
            <a:avLst/>
          </a:prstGeom>
          <a:solidFill>
            <a:srgbClr val="434F34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A8452C">
              <a:alpha val="3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188720" y="4663440"/>
            <a:ext cx="3291840" cy="3291840"/>
          </a:xfrm>
          <a:prstGeom prst="ellipse">
            <a:avLst/>
          </a:prstGeom>
          <a:solidFill>
            <a:srgbClr val="434F34">
              <a:alpha val="40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2148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20" dirty="0">
                <a:solidFill>
                  <a:srgbClr val="D9B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FINAL  ·  AA2  ·  </a:t>
            </a:r>
            <a:r>
              <a:rPr lang="en-US" sz="1300" b="1" kern="0" spc="220" dirty="0" err="1">
                <a:solidFill>
                  <a:srgbClr val="D9B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</a:t>
            </a:r>
            <a:r>
              <a:rPr lang="en-US" sz="1300" b="1" kern="0" spc="220" dirty="0">
                <a:solidFill>
                  <a:srgbClr val="D9B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Mobile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5146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6E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Conexão &amp; Tradição</a:t>
            </a:r>
            <a:endParaRPr lang="en-US" sz="5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7033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E4D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aplicativo Android que conecta produtores rurais e </a:t>
            </a:r>
            <a:r>
              <a:rPr lang="en-US" sz="1600" i="1" dirty="0" err="1">
                <a:solidFill>
                  <a:srgbClr val="E4D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compradores</a:t>
            </a:r>
            <a:endParaRPr lang="en-US" sz="1600" i="1" dirty="0">
              <a:solidFill>
                <a:srgbClr val="E4D4B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E4D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torno da tradição do carneamento comunitário no Sul do Brasil.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41248" y="4892040"/>
            <a:ext cx="0" cy="1051560"/>
          </a:xfrm>
          <a:prstGeom prst="line">
            <a:avLst/>
          </a:prstGeom>
          <a:noFill/>
          <a:ln w="15875">
            <a:solidFill>
              <a:srgbClr val="6E584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97280" y="489204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D9B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Autor: </a:t>
            </a:r>
            <a:r>
              <a:rPr lang="en-US" sz="1300" dirty="0">
                <a:solidFill>
                  <a:srgbClr val="F6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Fabio Costa
</a:t>
            </a:r>
            <a:r>
              <a:rPr lang="en-US" sz="1300" b="1" dirty="0">
                <a:solidFill>
                  <a:srgbClr val="D9B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Instituição: </a:t>
            </a:r>
            <a:r>
              <a:rPr lang="en-US" sz="1300" dirty="0">
                <a:solidFill>
                  <a:srgbClr val="F6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UNOESC
</a:t>
            </a:r>
            <a:r>
              <a:rPr lang="en-US" sz="1300" b="1" dirty="0">
                <a:solidFill>
                  <a:srgbClr val="D9B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</a:t>
            </a:r>
            <a:r>
              <a:rPr lang="en-US" sz="1300" dirty="0">
                <a:solidFill>
                  <a:srgbClr val="F6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Setembro de 2026</a:t>
            </a:r>
            <a:endParaRPr lang="en-US" sz="1300" dirty="0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9E4D3A57-3FCC-4B69-9C2E-C0CF3FBAC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21283" y="3307434"/>
            <a:ext cx="4729469" cy="30331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1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749808" cy="749808"/>
          </a:xfrm>
          <a:prstGeom prst="ellipse">
            <a:avLst/>
          </a:prstGeom>
          <a:solidFill>
            <a:srgbClr val="5C6B47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pic>
        <p:nvPicPr>
          <p:cNvPr id="3" name="Image 0" descr="/home/claude/apresentacao/icons/lo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630" y="536387"/>
            <a:ext cx="554858" cy="55485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44752" y="45720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C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444752" y="73152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 que o app resolve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14732" y="1783080"/>
            <a:ext cx="4992624" cy="4434840"/>
          </a:xfrm>
          <a:prstGeom prst="roundRect">
            <a:avLst>
              <a:gd name="adj" fmla="val 2474"/>
            </a:avLst>
          </a:prstGeom>
          <a:solidFill>
            <a:srgbClr val="FBF7EE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480492" y="205740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tradição sem canal direto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80492" y="2514600"/>
            <a:ext cx="4384807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E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interior do Paraná, Santa Catarina e Rio Grande do Sul, vizinhos se reuniam para ajudar no abate e dividir a carne — o carneamento comunitário. O app resgata essa prática, deixando o produtor rural anunciar seus eventos e qualquer pessoa interessada encontrá-los, reservar cortes e participar.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480492" y="4160520"/>
            <a:ext cx="43848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2E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Hoje, esse encontro depende de indicação boca a boca — </a:t>
            </a:r>
            <a:r>
              <a:rPr lang="en-US" sz="1350" b="1" i="1" dirty="0">
                <a:solidFill>
                  <a:srgbClr val="A8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canal organizado</a:t>
            </a:r>
            <a:r>
              <a:rPr lang="en-US" sz="1350" i="1" dirty="0">
                <a:solidFill>
                  <a:srgbClr val="2E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 quem produz e quem consome.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80492" y="5074920"/>
            <a:ext cx="566928" cy="566928"/>
          </a:xfrm>
          <a:prstGeom prst="ellipse">
            <a:avLst/>
          </a:prstGeom>
          <a:solidFill>
            <a:srgbClr val="5C6B47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pic>
        <p:nvPicPr>
          <p:cNvPr id="11" name="Image 1" descr="/home/claude/apresentacao/icons/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93" y="522232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48588" y="5047488"/>
            <a:ext cx="4992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 para as duas pontas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248588" y="5349240"/>
            <a:ext cx="361671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B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Comprador: carne mais barata, com procedência conhecida. Produtor: preço melhor, sem intermediários, e renda complementar — além de manter viva a tradição cultural.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308524" y="1783080"/>
            <a:ext cx="3776472" cy="4434840"/>
          </a:xfrm>
          <a:prstGeom prst="roundRect">
            <a:avLst>
              <a:gd name="adj" fmla="val 2474"/>
            </a:avLst>
          </a:prstGeom>
          <a:solidFill>
            <a:srgbClr val="5C6B47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5582844" y="201168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6E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800" dirty="0"/>
          </a:p>
        </p:txBody>
      </p:sp>
      <p:sp>
        <p:nvSpPr>
          <p:cNvPr id="16" name="Text 12"/>
          <p:cNvSpPr txBox="1"/>
          <p:nvPr/>
        </p:nvSpPr>
        <p:spPr>
          <a:xfrm>
            <a:off x="5582844" y="3063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do Sul do Brasil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5582844" y="3520440"/>
            <a:ext cx="31149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Paraná, Santa Catarina e Rio Grande do Sul — a região onde a tradição do carneamento comunitário é mais forte.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582844" y="4526280"/>
            <a:ext cx="3201263" cy="0"/>
          </a:xfrm>
          <a:prstGeom prst="line">
            <a:avLst/>
          </a:prstGeom>
          <a:noFill/>
          <a:ln w="12700">
            <a:solidFill>
              <a:srgbClr val="7C8B64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582844" y="4709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5582844" y="5074920"/>
            <a:ext cx="275268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Produtores rurais (anfitriões dos eventos) e a população em geral interessada em comprar carne direto do produtor.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7A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50292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7A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&amp; Tradição</a:t>
            </a:r>
            <a:endParaRPr lang="en-US" sz="10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EEF8440-D869-CF9F-017C-3DABC4AAEF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21" r="12701"/>
          <a:stretch/>
        </p:blipFill>
        <p:spPr bwMode="auto">
          <a:xfrm>
            <a:off x="9386385" y="1830490"/>
            <a:ext cx="2069494" cy="4376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1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749808" cy="749808"/>
          </a:xfrm>
          <a:prstGeom prst="ellipse">
            <a:avLst/>
          </a:prstGeom>
          <a:solidFill>
            <a:srgbClr val="5C6B47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pic>
        <p:nvPicPr>
          <p:cNvPr id="3" name="Image 0" descr="/home/claude/apresentacao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70" y="536387"/>
            <a:ext cx="554858" cy="55485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44752" y="45720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C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444752" y="73152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geral e específicos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783080"/>
            <a:ext cx="8684212" cy="1234440"/>
          </a:xfrm>
          <a:prstGeom prst="roundRect">
            <a:avLst>
              <a:gd name="adj" fmla="val 8889"/>
            </a:avLst>
          </a:prstGeom>
          <a:solidFill>
            <a:srgbClr val="4A2E22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68680" y="1938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B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GERAL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212848"/>
            <a:ext cx="805103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F6E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Desenvolver um aplicativo Android funcional que conecte produtores rurais e compradores em torno do carneamento comunitário, integrado a um backend real.</a:t>
            </a:r>
            <a:endParaRPr lang="en-US" sz="165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32461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C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" y="3657600"/>
            <a:ext cx="5257800" cy="1234440"/>
          </a:xfrm>
          <a:prstGeom prst="roundRect">
            <a:avLst>
              <a:gd name="adj" fmla="val 8889"/>
            </a:avLst>
          </a:prstGeom>
          <a:solidFill>
            <a:srgbClr val="FBF7EE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3858768"/>
            <a:ext cx="502920" cy="502920"/>
          </a:xfrm>
          <a:prstGeom prst="ellipse">
            <a:avLst/>
          </a:prstGeom>
          <a:solidFill>
            <a:srgbClr val="A8452C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pic>
        <p:nvPicPr>
          <p:cNvPr id="12" name="Image 1" descr="/home/claude/apresentacao/icons/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999" y="3989527"/>
            <a:ext cx="241402" cy="2414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81328" y="3831336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481328" y="4133088"/>
            <a:ext cx="4005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os 11 requisitos funcionais (RF01–RF11) definidos no levantamento da AA1, com dados reais.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080760" y="3657600"/>
            <a:ext cx="5257800" cy="1234440"/>
          </a:xfrm>
          <a:prstGeom prst="roundRect">
            <a:avLst>
              <a:gd name="adj" fmla="val 8889"/>
            </a:avLst>
          </a:prstGeom>
          <a:solidFill>
            <a:srgbClr val="FBF7EE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55080" y="3858768"/>
            <a:ext cx="502920" cy="502920"/>
          </a:xfrm>
          <a:prstGeom prst="ellipse">
            <a:avLst/>
          </a:prstGeom>
          <a:solidFill>
            <a:srgbClr val="A8452C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pic>
        <p:nvPicPr>
          <p:cNvPr id="17" name="Image 2" descr="/home/claude/apresentacao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5839" y="3989527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059168" y="3831336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7059168" y="4133088"/>
            <a:ext cx="4005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um backend real — Firebase Authentication e Cloud Firestore — para login, dados e comunicação em tempo real.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02920" y="5074920"/>
            <a:ext cx="5257800" cy="1234440"/>
          </a:xfrm>
          <a:prstGeom prst="roundRect">
            <a:avLst>
              <a:gd name="adj" fmla="val 8889"/>
            </a:avLst>
          </a:prstGeom>
          <a:solidFill>
            <a:srgbClr val="FBF7EE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77240" y="5276088"/>
            <a:ext cx="502920" cy="502920"/>
          </a:xfrm>
          <a:prstGeom prst="ellipse">
            <a:avLst/>
          </a:prstGeom>
          <a:solidFill>
            <a:srgbClr val="A8452C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pic>
        <p:nvPicPr>
          <p:cNvPr id="22" name="Image 3" descr="/home/claude/apresentacao/icons/wif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99" y="5406847"/>
            <a:ext cx="241402" cy="24140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481328" y="5248656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1481328" y="5550408"/>
            <a:ext cx="4005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uma estratégia offline-first, com cache local em Room, adequada à conectividade instável do meio rural.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6080760" y="5074920"/>
            <a:ext cx="5257800" cy="1234440"/>
          </a:xfrm>
          <a:prstGeom prst="roundRect">
            <a:avLst>
              <a:gd name="adj" fmla="val 8889"/>
            </a:avLst>
          </a:prstGeom>
          <a:solidFill>
            <a:srgbClr val="FBF7EE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355080" y="5276088"/>
            <a:ext cx="502920" cy="502920"/>
          </a:xfrm>
          <a:prstGeom prst="ellipse">
            <a:avLst/>
          </a:prstGeom>
          <a:solidFill>
            <a:srgbClr val="A8452C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pic>
        <p:nvPicPr>
          <p:cNvPr id="27" name="Image 4" descr="/home/claude/apresentacao/icons/githu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5839" y="5406847"/>
            <a:ext cx="241402" cy="24140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059168" y="5248656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7059168" y="5550408"/>
            <a:ext cx="4005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Versionar e publicar o código-fonte em repositório Git/GitHub, documentando o processo de desenvolvimento.</a:t>
            </a:r>
            <a:endParaRPr lang="en-US" sz="1250" dirty="0"/>
          </a:p>
        </p:txBody>
      </p:sp>
      <p:sp>
        <p:nvSpPr>
          <p:cNvPr id="30" name="Text 23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7A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1" name="Text 24"/>
          <p:cNvSpPr txBox="1"/>
          <p:nvPr/>
        </p:nvSpPr>
        <p:spPr>
          <a:xfrm>
            <a:off x="50292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7A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&amp; Tradição</a:t>
            </a:r>
            <a:endParaRPr lang="en-US" sz="1000" dirty="0"/>
          </a:p>
        </p:txBody>
      </p:sp>
      <p:pic>
        <p:nvPicPr>
          <p:cNvPr id="32" name="Imagem 31">
            <a:extLst>
              <a:ext uri="{FF2B5EF4-FFF2-40B4-BE49-F238E27FC236}">
                <a16:creationId xmlns:a16="http://schemas.microsoft.com/office/drawing/2014/main" id="{8477C43D-D077-80E6-EA0B-D4272652A7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03710" y="272745"/>
            <a:ext cx="1579612" cy="32211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1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749808" cy="749808"/>
          </a:xfrm>
          <a:prstGeom prst="ellipse">
            <a:avLst/>
          </a:prstGeom>
          <a:solidFill>
            <a:srgbClr val="5C6B47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pic>
        <p:nvPicPr>
          <p:cNvPr id="3" name="Image 0" descr="/home/claude/apresentacao/icons/clip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630" y="536387"/>
            <a:ext cx="554858" cy="55485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44752" y="45720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C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ESPECIFICAÇÃO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444752" y="73152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 do sistema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783080"/>
            <a:ext cx="6675120" cy="4434840"/>
          </a:xfrm>
          <a:prstGeom prst="roundRect">
            <a:avLst>
              <a:gd name="adj" fmla="val 2474"/>
            </a:avLst>
          </a:prstGeom>
          <a:solidFill>
            <a:srgbClr val="FBF7EE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22960" y="1965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 Funcionais  </a:t>
            </a:r>
            <a:r>
              <a:rPr lang="en-US" sz="1600" b="1" dirty="0">
                <a:solidFill>
                  <a:srgbClr val="A845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(11)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23160"/>
            <a:ext cx="2880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RF01  </a:t>
            </a:r>
            <a:r>
              <a:rPr lang="en-US" sz="1200" dirty="0">
                <a:solidFill>
                  <a:srgbClr val="2E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e login (e-mail/senha + Google)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A8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RF02  </a:t>
            </a:r>
            <a:r>
              <a:rPr lang="en-US" sz="1200" dirty="0">
                <a:solidFill>
                  <a:srgbClr val="2E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do usuário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A8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RF03  </a:t>
            </a:r>
            <a:r>
              <a:rPr lang="en-US" sz="1200" dirty="0">
                <a:solidFill>
                  <a:srgbClr val="2E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Listagem de eventos de carneamento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A8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RF04  </a:t>
            </a:r>
            <a:r>
              <a:rPr lang="en-US" sz="1200" dirty="0">
                <a:solidFill>
                  <a:srgbClr val="2E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e filtro de eventos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A8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RF05  </a:t>
            </a:r>
            <a:r>
              <a:rPr lang="en-US" sz="1200" dirty="0">
                <a:solidFill>
                  <a:srgbClr val="2E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evento pelo produtor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A8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RF06  </a:t>
            </a:r>
            <a:r>
              <a:rPr lang="en-US" sz="1200" dirty="0">
                <a:solidFill>
                  <a:srgbClr val="2E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Detalhes do evento e preços por corte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3886200" y="2423160"/>
            <a:ext cx="2880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RF07  </a:t>
            </a:r>
            <a:r>
              <a:rPr lang="en-US" sz="1200" dirty="0">
                <a:solidFill>
                  <a:srgbClr val="2E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 de participação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A8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RF08  </a:t>
            </a:r>
            <a:r>
              <a:rPr lang="en-US" sz="1200" dirty="0">
                <a:solidFill>
                  <a:srgbClr val="2E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com o produtor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A8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RF09  </a:t>
            </a:r>
            <a:r>
              <a:rPr lang="en-US" sz="1200" dirty="0">
                <a:solidFill>
                  <a:srgbClr val="2E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Localização do evento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A8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RF10  </a:t>
            </a:r>
            <a:r>
              <a:rPr lang="en-US" sz="1200" dirty="0">
                <a:solidFill>
                  <a:srgbClr val="2E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pós-evento (estrelas)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A8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RF11  </a:t>
            </a:r>
            <a:r>
              <a:rPr lang="en-US" sz="1200" dirty="0">
                <a:solidFill>
                  <a:srgbClr val="2E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60920" y="1783080"/>
            <a:ext cx="4325112" cy="4434840"/>
          </a:xfrm>
          <a:prstGeom prst="roundRect">
            <a:avLst>
              <a:gd name="adj" fmla="val 2537"/>
            </a:avLst>
          </a:prstGeom>
          <a:solidFill>
            <a:srgbClr val="5C6B47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635240" y="1965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E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 Não Funcionais  </a:t>
            </a:r>
            <a:r>
              <a:rPr lang="en-US" sz="1500" b="1" dirty="0">
                <a:solidFill>
                  <a:srgbClr val="D9B9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(8)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635240" y="2423160"/>
            <a:ext cx="3840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B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RNF01  </a:t>
            </a:r>
            <a:r>
              <a:rPr lang="en-US" sz="1150" dirty="0">
                <a:solidFill>
                  <a:srgbClr val="F6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Usabilidade acessível a todos os públicos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D9B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RNF02  </a:t>
            </a:r>
            <a:r>
              <a:rPr lang="en-US" sz="1150" dirty="0">
                <a:solidFill>
                  <a:srgbClr val="F6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Tolerância à conectividade intermitente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D9B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RNF03  </a:t>
            </a:r>
            <a:r>
              <a:rPr lang="en-US" sz="1150" dirty="0">
                <a:solidFill>
                  <a:srgbClr val="F6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 consumo de dados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D9B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RNF04  </a:t>
            </a:r>
            <a:r>
              <a:rPr lang="en-US" sz="1150" dirty="0">
                <a:solidFill>
                  <a:srgbClr val="F6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Compatibilidade (Android 8.0+)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D9B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RNF05  </a:t>
            </a:r>
            <a:r>
              <a:rPr lang="en-US" sz="1150" dirty="0">
                <a:solidFill>
                  <a:srgbClr val="F6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e privacidade (LGPD)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D9B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RNF06  </a:t>
            </a:r>
            <a:r>
              <a:rPr lang="en-US" sz="1150" dirty="0">
                <a:solidFill>
                  <a:srgbClr val="F6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 (listagem em até 3s)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D9B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RNF07  </a:t>
            </a:r>
            <a:r>
              <a:rPr lang="en-US" sz="1150" dirty="0">
                <a:solidFill>
                  <a:srgbClr val="F6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 (fontes, contraste)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D9B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RNF08  </a:t>
            </a:r>
            <a:r>
              <a:rPr lang="en-US" sz="1150" dirty="0">
                <a:solidFill>
                  <a:srgbClr val="F6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Testabilidade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7A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50292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7A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&amp; Tradição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1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749808" cy="749808"/>
          </a:xfrm>
          <a:prstGeom prst="ellipse">
            <a:avLst/>
          </a:prstGeom>
          <a:solidFill>
            <a:srgbClr val="5C6B47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1444752" y="45720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C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DE PROJETO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444752" y="73152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Android nativo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783080"/>
            <a:ext cx="4023360" cy="4434840"/>
          </a:xfrm>
          <a:prstGeom prst="roundRect">
            <a:avLst>
              <a:gd name="adj" fmla="val 2727"/>
            </a:avLst>
          </a:prstGeom>
          <a:solidFill>
            <a:srgbClr val="4A2E22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77240" y="228600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6E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6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4290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4D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mercado de smartphones no Brasil é Android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77240" y="4434840"/>
            <a:ext cx="3291840" cy="0"/>
          </a:xfrm>
          <a:prstGeom prst="line">
            <a:avLst/>
          </a:prstGeom>
          <a:noFill/>
          <a:ln w="12700">
            <a:solidFill>
              <a:srgbClr val="6E584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461772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E4D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Apple atua só em aparelhos premium; o Android está em dispositivos básicos, intermediários e de ponta — decisivo para alcançar produtores e compradores de menor renda.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1874520"/>
            <a:ext cx="6537960" cy="1371600"/>
          </a:xfrm>
          <a:prstGeom prst="roundRect">
            <a:avLst>
              <a:gd name="adj" fmla="val 8000"/>
            </a:avLst>
          </a:prstGeom>
          <a:solidFill>
            <a:srgbClr val="FBF7EE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029200" y="2075688"/>
            <a:ext cx="548640" cy="548640"/>
          </a:xfrm>
          <a:prstGeom prst="ellipse">
            <a:avLst/>
          </a:prstGeom>
          <a:solidFill>
            <a:srgbClr val="5C6B47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pic>
        <p:nvPicPr>
          <p:cNvPr id="13" name="Image 1" descr="/home/claude/apresentacao/icons/wi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1846" y="2218334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779008" y="2048256"/>
            <a:ext cx="5330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Conectividade intermitente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5779008" y="2350008"/>
            <a:ext cx="5330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Nativo dá controle total sobre cache local (Room/SQLite) e sincronização em segundo plano — essencial em áreas rurais com sinal instável.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754880" y="3410712"/>
            <a:ext cx="6537960" cy="1371600"/>
          </a:xfrm>
          <a:prstGeom prst="roundRect">
            <a:avLst>
              <a:gd name="adj" fmla="val 8000"/>
            </a:avLst>
          </a:prstGeom>
          <a:solidFill>
            <a:srgbClr val="FBF7EE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029200" y="3611880"/>
            <a:ext cx="548640" cy="548640"/>
          </a:xfrm>
          <a:prstGeom prst="ellipse">
            <a:avLst/>
          </a:prstGeom>
          <a:solidFill>
            <a:srgbClr val="5C6B47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pic>
        <p:nvPicPr>
          <p:cNvPr id="18" name="Image 2" descr="/home/claude/apresentacao/icons/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1846" y="3754526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779008" y="3584448"/>
            <a:ext cx="5330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aparelho acessível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5779008" y="3886200"/>
            <a:ext cx="5330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Licenciado a diversos fabricantes, sem a barreira de entrada de aparelhos de alto valor — quanto mais produtores conseguem acessar, maior a adesão.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4754880" y="4946904"/>
            <a:ext cx="6537960" cy="1371600"/>
          </a:xfrm>
          <a:prstGeom prst="roundRect">
            <a:avLst>
              <a:gd name="adj" fmla="val 8000"/>
            </a:avLst>
          </a:prstGeom>
          <a:solidFill>
            <a:srgbClr val="FBF7EE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029200" y="5148072"/>
            <a:ext cx="548640" cy="548640"/>
          </a:xfrm>
          <a:prstGeom prst="ellipse">
            <a:avLst/>
          </a:prstGeom>
          <a:solidFill>
            <a:srgbClr val="5C6B47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pic>
        <p:nvPicPr>
          <p:cNvPr id="23" name="Image 3" descr="/home/claude/apresentacao/icons/loc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1846" y="5290718"/>
            <a:ext cx="263347" cy="26334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779008" y="5120640"/>
            <a:ext cx="5330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nativos essenciais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5779008" y="5422392"/>
            <a:ext cx="5330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completo a Google Maps SDK (localização, RF09), Firebase Cloud Messaging (RF11) e câmera, com melhor desempenho e menor consumo de bateria.</a:t>
            </a:r>
            <a:endParaRPr lang="en-US" sz="1250" dirty="0"/>
          </a:p>
        </p:txBody>
      </p:sp>
      <p:sp>
        <p:nvSpPr>
          <p:cNvPr id="26" name="Text 20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7A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50292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7A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&amp; Tradição</a:t>
            </a:r>
            <a:endParaRPr lang="en-US" sz="1000" dirty="0"/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DA5723F6-1D0B-D82B-D421-42AD142EC1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63548" y="2010732"/>
            <a:ext cx="1494152" cy="1494152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14999C8A-8469-52C6-193C-20B6C798F1D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rcRect b="66953"/>
          <a:stretch/>
        </p:blipFill>
        <p:spPr>
          <a:xfrm>
            <a:off x="281940" y="639850"/>
            <a:ext cx="1162812" cy="3842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1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749808" cy="749808"/>
          </a:xfrm>
          <a:prstGeom prst="ellipse">
            <a:avLst/>
          </a:prstGeom>
          <a:solidFill>
            <a:srgbClr val="5C6B47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pic>
        <p:nvPicPr>
          <p:cNvPr id="3" name="Image 0" descr="/home/claude/apresentacao/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870" y="633862"/>
            <a:ext cx="359908" cy="3599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44752" y="45720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C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444752" y="73152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e stack tecnológica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874520"/>
            <a:ext cx="6035040" cy="658368"/>
          </a:xfrm>
          <a:prstGeom prst="roundRect">
            <a:avLst>
              <a:gd name="adj" fmla="val 13889"/>
            </a:avLst>
          </a:prstGeom>
          <a:solidFill>
            <a:srgbClr val="4A2E22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502920" y="1874520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6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— Fragments / Activities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3291840" y="25328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8452C"/>
                </a:solidFill>
              </a:rPr>
              <a:t>▼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2920" y="2788920"/>
            <a:ext cx="6035040" cy="658368"/>
          </a:xfrm>
          <a:prstGeom prst="roundRect">
            <a:avLst>
              <a:gd name="adj" fmla="val 13889"/>
            </a:avLst>
          </a:prstGeom>
          <a:solidFill>
            <a:srgbClr val="5C6B47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502920" y="2788920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6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3291840" y="34472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8452C"/>
                </a:solidFill>
              </a:rPr>
              <a:t>▼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" y="3703320"/>
            <a:ext cx="6035040" cy="658368"/>
          </a:xfrm>
          <a:prstGeom prst="roundRect">
            <a:avLst>
              <a:gd name="adj" fmla="val 13889"/>
            </a:avLst>
          </a:prstGeom>
          <a:solidFill>
            <a:srgbClr val="434F34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502920" y="3703320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6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502920" y="4636008"/>
            <a:ext cx="2805379" cy="658368"/>
          </a:xfrm>
          <a:prstGeom prst="roundRect">
            <a:avLst>
              <a:gd name="adj" fmla="val 13889"/>
            </a:avLst>
          </a:prstGeom>
          <a:solidFill>
            <a:srgbClr val="A8452C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502920" y="4636008"/>
            <a:ext cx="280537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6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6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(SQLite local)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732581" y="4636008"/>
            <a:ext cx="2805379" cy="658368"/>
          </a:xfrm>
          <a:prstGeom prst="roundRect">
            <a:avLst>
              <a:gd name="adj" fmla="val 13889"/>
            </a:avLst>
          </a:prstGeom>
          <a:solidFill>
            <a:srgbClr val="A8452C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3732581" y="4636008"/>
            <a:ext cx="280537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6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6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(nuvem, tempo real)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903720" y="1783080"/>
            <a:ext cx="4782312" cy="4434840"/>
          </a:xfrm>
          <a:prstGeom prst="roundRect">
            <a:avLst>
              <a:gd name="adj" fmla="val 2474"/>
            </a:avLst>
          </a:prstGeom>
          <a:solidFill>
            <a:srgbClr val="FBF7EE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223760" y="2011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tecnológica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7223760" y="2487168"/>
            <a:ext cx="420624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100"/>
              </a:spcAft>
              <a:buSzPct val="100000"/>
              <a:buChar char="▪"/>
            </a:pPr>
            <a:r>
              <a:rPr lang="en-US" sz="1250" dirty="0">
                <a:solidFill>
                  <a:srgbClr val="2E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— linguagem oficial para Android nativo.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▪"/>
            </a:pPr>
            <a:r>
              <a:rPr lang="en-US" sz="1250" dirty="0">
                <a:solidFill>
                  <a:srgbClr val="2E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MVVM (Model-View-ViewModel) com camada de Repository entre a UI e as fontes de dados.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▪"/>
            </a:pPr>
            <a:r>
              <a:rPr lang="en-US" sz="1250" dirty="0">
                <a:solidFill>
                  <a:srgbClr val="2E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(SQLite) para persistência local e cache offline-first.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▪"/>
            </a:pPr>
            <a:r>
              <a:rPr lang="en-US" sz="1250" dirty="0">
                <a:solidFill>
                  <a:srgbClr val="2E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Authentication — login por e-mail/senha e Google.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▪"/>
            </a:pPr>
            <a:r>
              <a:rPr lang="en-US" sz="1250" dirty="0">
                <a:solidFill>
                  <a:srgbClr val="2E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Firestore — banco de dados em tempo real (eventos, chat, avaliações).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▪"/>
            </a:pPr>
            <a:r>
              <a:rPr lang="en-US" sz="1250" dirty="0">
                <a:solidFill>
                  <a:srgbClr val="2E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SDK — geolocalização dos eventos (RF09).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▪"/>
            </a:pPr>
            <a:r>
              <a:rPr lang="en-US" sz="1250" dirty="0">
                <a:solidFill>
                  <a:srgbClr val="2E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 locais reagindo a mudanças no Firestore (RF11).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7A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50292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7A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&amp; Tradição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E1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749808" cy="749808"/>
          </a:xfrm>
          <a:prstGeom prst="ellipse">
            <a:avLst/>
          </a:prstGeom>
          <a:solidFill>
            <a:srgbClr val="5C6B47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pic>
        <p:nvPicPr>
          <p:cNvPr id="3" name="Image 0" descr="/home/claude/apresentacao/icons/syn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870" y="633862"/>
            <a:ext cx="359908" cy="3599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44752" y="45720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C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RNF02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444752" y="73152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Estratégia offline-first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1370"/>
            <a:ext cx="54365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6B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boa parte dos eventos ocorre em propriedades rurais com sinal limitado, todas as telas de listagem leem primeiro do banco local — o app nunca fica "em branco" por falta de conexão.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5146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BF7EE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943100" y="2724912"/>
            <a:ext cx="731520" cy="731520"/>
          </a:xfrm>
          <a:prstGeom prst="ellipse">
            <a:avLst/>
          </a:prstGeom>
          <a:solidFill>
            <a:srgbClr val="5C6B47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pic>
        <p:nvPicPr>
          <p:cNvPr id="9" name="Image 1" descr="/home/claude/apresentacao/icons/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295" y="2915107"/>
            <a:ext cx="351130" cy="35113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77240" y="35661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Leitura sempre local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04672" y="3977640"/>
            <a:ext cx="3008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interface lê do Room (cache local), que funciona como fonte de verdade — resposta imediata, mesmo offline.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4069080" y="3291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452C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4325112" y="25146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BF7EE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719572" y="2724912"/>
            <a:ext cx="731520" cy="731520"/>
          </a:xfrm>
          <a:prstGeom prst="ellipse">
            <a:avLst/>
          </a:prstGeom>
          <a:solidFill>
            <a:srgbClr val="5C6B47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pic>
        <p:nvPicPr>
          <p:cNvPr id="15" name="Image 2" descr="/home/claude/apresentacao/icons/syn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9767" y="2915107"/>
            <a:ext cx="351130" cy="35113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553712" y="35661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Escrita local + remota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4581144" y="3977640"/>
            <a:ext cx="3008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Agendar, avaliar e enviar mensagem gravam no Room e no Firestore ao mesmo tempo; o envio remoto é best-effort.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7845552" y="3291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452C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8101584" y="25146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BF7EE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496044" y="2724912"/>
            <a:ext cx="731520" cy="731520"/>
          </a:xfrm>
          <a:prstGeom prst="ellipse">
            <a:avLst/>
          </a:prstGeom>
          <a:solidFill>
            <a:srgbClr val="5C6B47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pic>
        <p:nvPicPr>
          <p:cNvPr id="21" name="Image 3" descr="/home/claude/apresentacao/icons/wif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6239" y="2915107"/>
            <a:ext cx="351130" cy="35113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330184" y="35661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Sincronização automática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8357616" y="3977640"/>
            <a:ext cx="3008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reconectar, uma rotina busca do Firestore o que ainda não está refletido localmente — sem ação do usuário.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5074920"/>
            <a:ext cx="11109960" cy="1143000"/>
          </a:xfrm>
          <a:prstGeom prst="roundRect">
            <a:avLst>
              <a:gd name="adj" fmla="val 9600"/>
            </a:avLst>
          </a:prstGeom>
          <a:solidFill>
            <a:srgbClr val="4A2E22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77240" y="5257800"/>
            <a:ext cx="685800" cy="685800"/>
          </a:xfrm>
          <a:prstGeom prst="ellipse">
            <a:avLst/>
          </a:prstGeom>
          <a:solidFill>
            <a:srgbClr val="A8452C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pic>
        <p:nvPicPr>
          <p:cNvPr id="26" name="Image 4" descr="/home/claude/apresentacao/icons/bu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548" y="5436108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600200" y="5212080"/>
            <a:ext cx="9829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6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bugs do mesmo padrão </a:t>
            </a:r>
            <a:r>
              <a:rPr lang="en-US" sz="1250" dirty="0">
                <a:solidFill>
                  <a:srgbClr val="E4D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corrigidos durante o desenvolvimento — dado gravado corretamente no Firestore, mas nunca rebuscado de volta para o cache local, em três contextos: </a:t>
            </a:r>
            <a:r>
              <a:rPr lang="en-US" sz="1250" b="1" dirty="0">
                <a:solidFill>
                  <a:srgbClr val="F6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do usuário, participações em eventos e avaliações de terceiros.</a:t>
            </a:r>
            <a:endParaRPr lang="en-US" sz="1250" dirty="0"/>
          </a:p>
        </p:txBody>
      </p:sp>
      <p:sp>
        <p:nvSpPr>
          <p:cNvPr id="28" name="Text 21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7A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50292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7A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&amp; Tradição</a:t>
            </a:r>
            <a:endParaRPr lang="en-US" sz="1000" dirty="0"/>
          </a:p>
        </p:txBody>
      </p:sp>
      <p:pic>
        <p:nvPicPr>
          <p:cNvPr id="33" name="Imagem 32">
            <a:extLst>
              <a:ext uri="{FF2B5EF4-FFF2-40B4-BE49-F238E27FC236}">
                <a16:creationId xmlns:a16="http://schemas.microsoft.com/office/drawing/2014/main" id="{616959B2-81F2-C84F-B859-CD6D5FCB47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1200" y="389573"/>
            <a:ext cx="5814498" cy="19513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E1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749808" cy="749808"/>
          </a:xfrm>
          <a:prstGeom prst="ellipse">
            <a:avLst/>
          </a:prstGeom>
          <a:solidFill>
            <a:srgbClr val="5C6B47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pic>
        <p:nvPicPr>
          <p:cNvPr id="3" name="Image 0" descr="/home/claude/apresentacao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870" y="633862"/>
            <a:ext cx="359908" cy="3599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44752" y="45720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C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444752" y="73152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Modelagem de dados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1907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espelhado entre o Firestore (fonte de verdade remota) e o Room (cache local):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240280"/>
            <a:ext cx="3538728" cy="1554480"/>
          </a:xfrm>
          <a:prstGeom prst="roundRect">
            <a:avLst>
              <a:gd name="adj" fmla="val 7059"/>
            </a:avLst>
          </a:prstGeom>
          <a:solidFill>
            <a:srgbClr val="FBF7EE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49808" y="2441448"/>
            <a:ext cx="512064" cy="512064"/>
          </a:xfrm>
          <a:prstGeom prst="ellipse">
            <a:avLst/>
          </a:prstGeom>
          <a:solidFill>
            <a:srgbClr val="A8452C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pic>
        <p:nvPicPr>
          <p:cNvPr id="9" name="Image 1" descr="/home/claude/apresentacao/icons/sign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945" y="2574585"/>
            <a:ext cx="245791" cy="24579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89888" y="2459736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68096" y="3044952"/>
            <a:ext cx="3099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nome, e-mail, foto, papel (produtor/comprador), média e contagem de avaliações.</a:t>
            </a:r>
            <a:endParaRPr lang="en-US" sz="1080" dirty="0"/>
          </a:p>
        </p:txBody>
      </p:sp>
      <p:sp>
        <p:nvSpPr>
          <p:cNvPr id="12" name="Shape 8"/>
          <p:cNvSpPr/>
          <p:nvPr/>
        </p:nvSpPr>
        <p:spPr>
          <a:xfrm>
            <a:off x="4334256" y="2240280"/>
            <a:ext cx="3538728" cy="1554480"/>
          </a:xfrm>
          <a:prstGeom prst="roundRect">
            <a:avLst>
              <a:gd name="adj" fmla="val 7059"/>
            </a:avLst>
          </a:prstGeom>
          <a:solidFill>
            <a:srgbClr val="FBF7EE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35424" y="2441448"/>
            <a:ext cx="512064" cy="512064"/>
          </a:xfrm>
          <a:prstGeom prst="ellipse">
            <a:avLst/>
          </a:prstGeom>
          <a:solidFill>
            <a:srgbClr val="A8452C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pic>
        <p:nvPicPr>
          <p:cNvPr id="14" name="Image 2" descr="/home/claude/apresentacao/icons/ho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8561" y="2574585"/>
            <a:ext cx="245791" cy="245791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175504" y="2459736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4553712" y="3044952"/>
            <a:ext cx="3099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produtor, data, cidade/UF, tipo de animal, localização, estado de finalização, fotos da carneação.</a:t>
            </a:r>
            <a:endParaRPr lang="en-US" sz="1080" dirty="0"/>
          </a:p>
        </p:txBody>
      </p:sp>
      <p:sp>
        <p:nvSpPr>
          <p:cNvPr id="17" name="Shape 12"/>
          <p:cNvSpPr/>
          <p:nvPr/>
        </p:nvSpPr>
        <p:spPr>
          <a:xfrm>
            <a:off x="8119872" y="2240280"/>
            <a:ext cx="3538728" cy="1554480"/>
          </a:xfrm>
          <a:prstGeom prst="roundRect">
            <a:avLst>
              <a:gd name="adj" fmla="val 7059"/>
            </a:avLst>
          </a:prstGeom>
          <a:solidFill>
            <a:srgbClr val="FBF7EE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321040" y="2441448"/>
            <a:ext cx="512064" cy="512064"/>
          </a:xfrm>
          <a:prstGeom prst="ellipse">
            <a:avLst/>
          </a:prstGeom>
          <a:solidFill>
            <a:srgbClr val="A8452C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pic>
        <p:nvPicPr>
          <p:cNvPr id="19" name="Image 3" descr="/home/claude/apresentacao/icons/clip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4177" y="2574585"/>
            <a:ext cx="245791" cy="245791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961120" y="2459736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Cut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8339328" y="3044952"/>
            <a:ext cx="3099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corte/subproduto disponível em um evento, com nome e preço por kg.</a:t>
            </a:r>
            <a:endParaRPr lang="en-US" sz="1080" dirty="0"/>
          </a:p>
        </p:txBody>
      </p:sp>
      <p:sp>
        <p:nvSpPr>
          <p:cNvPr id="22" name="Shape 16"/>
          <p:cNvSpPr/>
          <p:nvPr/>
        </p:nvSpPr>
        <p:spPr>
          <a:xfrm>
            <a:off x="548640" y="4023360"/>
            <a:ext cx="3538728" cy="1554480"/>
          </a:xfrm>
          <a:prstGeom prst="roundRect">
            <a:avLst>
              <a:gd name="adj" fmla="val 7059"/>
            </a:avLst>
          </a:prstGeom>
          <a:solidFill>
            <a:srgbClr val="FBF7EE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49808" y="4224528"/>
            <a:ext cx="512064" cy="512064"/>
          </a:xfrm>
          <a:prstGeom prst="ellipse">
            <a:avLst/>
          </a:prstGeom>
          <a:solidFill>
            <a:srgbClr val="A8452C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pic>
        <p:nvPicPr>
          <p:cNvPr id="24" name="Image 4" descr="/home/claude/apresentacao/icons/checkcirc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945" y="4357665"/>
            <a:ext cx="245791" cy="245791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389888" y="4242816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Participation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768096" y="4828032"/>
            <a:ext cx="3099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vínculo usuário↔evento: cortes selecionados, status e flags de avaliação já realizada.</a:t>
            </a:r>
            <a:endParaRPr lang="en-US" sz="1080" dirty="0"/>
          </a:p>
        </p:txBody>
      </p:sp>
      <p:sp>
        <p:nvSpPr>
          <p:cNvPr id="27" name="Shape 20"/>
          <p:cNvSpPr/>
          <p:nvPr/>
        </p:nvSpPr>
        <p:spPr>
          <a:xfrm>
            <a:off x="4334256" y="4023360"/>
            <a:ext cx="3538728" cy="1554480"/>
          </a:xfrm>
          <a:prstGeom prst="roundRect">
            <a:avLst>
              <a:gd name="adj" fmla="val 7059"/>
            </a:avLst>
          </a:prstGeom>
          <a:solidFill>
            <a:srgbClr val="FBF7EE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535424" y="4224528"/>
            <a:ext cx="512064" cy="512064"/>
          </a:xfrm>
          <a:prstGeom prst="ellipse">
            <a:avLst/>
          </a:prstGeom>
          <a:solidFill>
            <a:srgbClr val="A8452C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pic>
        <p:nvPicPr>
          <p:cNvPr id="29" name="Image 5" descr="/home/claude/apresentacao/icons/sta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8561" y="4357665"/>
            <a:ext cx="245791" cy="245791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175504" y="4242816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Rating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4553712" y="4828032"/>
            <a:ext cx="3099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em estrelas de um usuário sobre outro, associada a um evento.</a:t>
            </a:r>
            <a:endParaRPr lang="en-US" sz="1080" dirty="0"/>
          </a:p>
        </p:txBody>
      </p:sp>
      <p:sp>
        <p:nvSpPr>
          <p:cNvPr id="32" name="Shape 24"/>
          <p:cNvSpPr/>
          <p:nvPr/>
        </p:nvSpPr>
        <p:spPr>
          <a:xfrm>
            <a:off x="8119872" y="4023360"/>
            <a:ext cx="3538728" cy="1554480"/>
          </a:xfrm>
          <a:prstGeom prst="roundRect">
            <a:avLst>
              <a:gd name="adj" fmla="val 7059"/>
            </a:avLst>
          </a:prstGeom>
          <a:solidFill>
            <a:srgbClr val="FBF7EE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8321040" y="4224528"/>
            <a:ext cx="512064" cy="512064"/>
          </a:xfrm>
          <a:prstGeom prst="ellipse">
            <a:avLst/>
          </a:prstGeom>
          <a:solidFill>
            <a:srgbClr val="A8452C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pic>
        <p:nvPicPr>
          <p:cNvPr id="34" name="Image 6" descr="/home/claude/apresentacao/icons/cha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54177" y="4357665"/>
            <a:ext cx="245791" cy="245791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8961120" y="4242816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ChatMessage</a:t>
            </a:r>
            <a:endParaRPr lang="en-US" sz="1500" dirty="0"/>
          </a:p>
        </p:txBody>
      </p:sp>
      <p:sp>
        <p:nvSpPr>
          <p:cNvPr id="36" name="Text 27"/>
          <p:cNvSpPr txBox="1"/>
          <p:nvPr/>
        </p:nvSpPr>
        <p:spPr>
          <a:xfrm>
            <a:off x="8339328" y="4828032"/>
            <a:ext cx="3099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entre produtor e comprador por evento — remetente, texto e horário.</a:t>
            </a:r>
            <a:endParaRPr lang="en-US" sz="1080" dirty="0"/>
          </a:p>
        </p:txBody>
      </p:sp>
      <p:sp>
        <p:nvSpPr>
          <p:cNvPr id="37" name="Text 28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7A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8" name="Text 29"/>
          <p:cNvSpPr txBox="1"/>
          <p:nvPr/>
        </p:nvSpPr>
        <p:spPr>
          <a:xfrm>
            <a:off x="50292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7A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&amp; Tradição</a:t>
            </a:r>
            <a:endParaRPr lang="en-US" sz="1000" dirty="0"/>
          </a:p>
        </p:txBody>
      </p: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E8510160-0C52-FAB3-0F1F-EBCDC4B77C61}"/>
              </a:ext>
            </a:extLst>
          </p:cNvPr>
          <p:cNvGrpSpPr/>
          <p:nvPr/>
        </p:nvGrpSpPr>
        <p:grpSpPr>
          <a:xfrm>
            <a:off x="8014167" y="267301"/>
            <a:ext cx="3644433" cy="2391203"/>
            <a:chOff x="8014167" y="267301"/>
            <a:chExt cx="3644433" cy="2391203"/>
          </a:xfrm>
        </p:grpSpPr>
        <p:pic>
          <p:nvPicPr>
            <p:cNvPr id="39" name="Imagem 38">
              <a:extLst>
                <a:ext uri="{FF2B5EF4-FFF2-40B4-BE49-F238E27FC236}">
                  <a16:creationId xmlns:a16="http://schemas.microsoft.com/office/drawing/2014/main" id="{AC0A7CC1-765D-E014-EFE7-14F46B539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301583" y="267301"/>
              <a:ext cx="2192425" cy="1406051"/>
            </a:xfrm>
            <a:prstGeom prst="rect">
              <a:avLst/>
            </a:prstGeom>
          </p:spPr>
        </p:pic>
        <p:sp>
          <p:nvSpPr>
            <p:cNvPr id="40" name="Text 5">
              <a:extLst>
                <a:ext uri="{FF2B5EF4-FFF2-40B4-BE49-F238E27FC236}">
                  <a16:creationId xmlns:a16="http://schemas.microsoft.com/office/drawing/2014/main" id="{834943BA-6AFB-F7BE-2CB7-984FFAAFFF92}"/>
                </a:ext>
              </a:extLst>
            </p:cNvPr>
            <p:cNvSpPr txBox="1"/>
            <p:nvPr/>
          </p:nvSpPr>
          <p:spPr>
            <a:xfrm>
              <a:off x="8014167" y="1286904"/>
              <a:ext cx="3644433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453523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Conexão &amp; Tradição</a:t>
              </a:r>
              <a:endParaRPr lang="en-US" sz="2800" dirty="0">
                <a:solidFill>
                  <a:srgbClr val="453523"/>
                </a:solidFill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A2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828800"/>
            <a:ext cx="5486400" cy="5486400"/>
          </a:xfrm>
          <a:prstGeom prst="ellipse">
            <a:avLst/>
          </a:prstGeom>
          <a:solidFill>
            <a:srgbClr val="434F34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3291840"/>
            <a:ext cx="4572000" cy="4572000"/>
          </a:xfrm>
          <a:prstGeom prst="ellipse">
            <a:avLst/>
          </a:prstGeom>
          <a:solidFill>
            <a:srgbClr val="A8452C">
              <a:alpha val="3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39571" y="777240"/>
            <a:ext cx="1097280" cy="1097280"/>
          </a:xfrm>
          <a:prstGeom prst="ellipse">
            <a:avLst/>
          </a:prstGeom>
          <a:solidFill>
            <a:srgbClr val="A8452C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pic>
        <p:nvPicPr>
          <p:cNvPr id="5" name="Image 0" descr="/home/claude/apresentacao/icons/mobile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24864" y="930398"/>
            <a:ext cx="811987" cy="81198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2363" y="214884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50" dirty="0">
                <a:solidFill>
                  <a:srgbClr val="D9B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 EM ALTA FIDELIDADE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92363" y="246888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6E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Telas do aplicativo</a:t>
            </a:r>
            <a:endParaRPr lang="en-US" sz="4200" dirty="0"/>
          </a:p>
        </p:txBody>
      </p:sp>
      <p:sp>
        <p:nvSpPr>
          <p:cNvPr id="8" name="Text 5"/>
          <p:cNvSpPr txBox="1"/>
          <p:nvPr/>
        </p:nvSpPr>
        <p:spPr>
          <a:xfrm>
            <a:off x="1463963" y="333756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4D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fluxos principais, implementados com dados reais do Firebase — sem mockups estáticos</a:t>
            </a:r>
            <a:endParaRPr lang="en-US" sz="1400" dirty="0"/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4C21D68F-3D44-34DD-DDA3-C59A4052759F}"/>
              </a:ext>
            </a:extLst>
          </p:cNvPr>
          <p:cNvGrpSpPr/>
          <p:nvPr/>
        </p:nvGrpSpPr>
        <p:grpSpPr>
          <a:xfrm>
            <a:off x="4364622" y="4169598"/>
            <a:ext cx="3644433" cy="2428185"/>
            <a:chOff x="8705453" y="267301"/>
            <a:chExt cx="3644433" cy="2428185"/>
          </a:xfrm>
        </p:grpSpPr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C445B2B6-DF83-C8FA-790A-5C2E5D9F3F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301583" y="267301"/>
              <a:ext cx="2192425" cy="1406051"/>
            </a:xfrm>
            <a:prstGeom prst="rect">
              <a:avLst/>
            </a:prstGeom>
          </p:spPr>
        </p:pic>
        <p:sp>
          <p:nvSpPr>
            <p:cNvPr id="11" name="Text 5">
              <a:extLst>
                <a:ext uri="{FF2B5EF4-FFF2-40B4-BE49-F238E27FC236}">
                  <a16:creationId xmlns:a16="http://schemas.microsoft.com/office/drawing/2014/main" id="{D42B4A62-E0AE-4A03-8E84-8CD933A38A94}"/>
                </a:ext>
              </a:extLst>
            </p:cNvPr>
            <p:cNvSpPr txBox="1"/>
            <p:nvPr/>
          </p:nvSpPr>
          <p:spPr>
            <a:xfrm>
              <a:off x="8705453" y="1323886"/>
              <a:ext cx="3644433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chemeClr val="bg1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Conexão &amp; Tradição</a:t>
              </a:r>
              <a:endParaRPr lang="en-US" sz="28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EA32FBA2-B8A4-F6CF-A598-FFB478B6C4FF}"/>
              </a:ext>
            </a:extLst>
          </p:cNvPr>
          <p:cNvSpPr/>
          <p:nvPr/>
        </p:nvSpPr>
        <p:spPr>
          <a:xfrm>
            <a:off x="3722254" y="3977641"/>
            <a:ext cx="4424219" cy="2321560"/>
          </a:xfrm>
          <a:prstGeom prst="roundRect">
            <a:avLst>
              <a:gd name="adj" fmla="val 957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E1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749808" cy="749808"/>
          </a:xfrm>
          <a:prstGeom prst="ellipse">
            <a:avLst/>
          </a:prstGeom>
          <a:solidFill>
            <a:srgbClr val="5C6B47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pic>
        <p:nvPicPr>
          <p:cNvPr id="3" name="Image 0" descr="/home/claude/apresentacao/icons/sign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870" y="633862"/>
            <a:ext cx="359908" cy="3599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44752" y="45720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C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1 DE 6  ·  RF01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444752" y="7315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4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Cadastro e Login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83080"/>
            <a:ext cx="4556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E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de entrada do app. Cadastro/login por e-mail e senha, com opção de acesso simplificado "Continuar com Google". O perfil do usuário é criado automaticamente no Firestore no primeiro acesso.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3154680"/>
            <a:ext cx="4556760" cy="3063240"/>
          </a:xfrm>
          <a:prstGeom prst="roundRect">
            <a:avLst>
              <a:gd name="adj" fmla="val 3582"/>
            </a:avLst>
          </a:prstGeom>
          <a:solidFill>
            <a:srgbClr val="4A2E22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68680" y="3352297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6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do app (ícone que une boi e porco) no topo.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6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de e-mail e senha preenchidos.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6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"Cadastrar" e link "Já tem uma conta? Faça login!".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6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"Continuar com Google" visível.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297425" y="633862"/>
            <a:ext cx="6619950" cy="5584058"/>
          </a:xfrm>
          <a:prstGeom prst="roundRect">
            <a:avLst>
              <a:gd name="adj" fmla="val 5070"/>
            </a:avLst>
          </a:prstGeom>
          <a:solidFill>
            <a:schemeClr val="tx1"/>
          </a:solidFill>
          <a:ln w="28575">
            <a:solidFill>
              <a:srgbClr val="5C6B47"/>
            </a:solidFill>
            <a:prstDash val="dash"/>
          </a:ln>
        </p:spPr>
      </p:sp>
      <p:sp>
        <p:nvSpPr>
          <p:cNvPr id="14" name="Text 10"/>
          <p:cNvSpPr txBox="1"/>
          <p:nvPr/>
        </p:nvSpPr>
        <p:spPr>
          <a:xfrm>
            <a:off x="7061664" y="5828144"/>
            <a:ext cx="2788920" cy="225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1 — Login e </a:t>
            </a:r>
            <a:r>
              <a:rPr lang="en-US" sz="12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5" name="Text 11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7A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50292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7A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&amp; Tradição</a:t>
            </a:r>
            <a:endParaRPr lang="en-US" sz="1000" dirty="0"/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5FB7B468-C09B-40ED-F46A-D8508EBE15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2680" y="774132"/>
            <a:ext cx="2409656" cy="4913743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D82C4D06-466D-BAB6-A0E8-BAEC84B4C3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0832" y="774132"/>
            <a:ext cx="2273300" cy="490571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E1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4">
            <a:extLst>
              <a:ext uri="{FF2B5EF4-FFF2-40B4-BE49-F238E27FC236}">
                <a16:creationId xmlns:a16="http://schemas.microsoft.com/office/drawing/2014/main" id="{C74871CB-DBF4-8F47-3EE7-06F040403947}"/>
              </a:ext>
            </a:extLst>
          </p:cNvPr>
          <p:cNvSpPr/>
          <p:nvPr/>
        </p:nvSpPr>
        <p:spPr>
          <a:xfrm>
            <a:off x="548640" y="3154680"/>
            <a:ext cx="4556760" cy="3063240"/>
          </a:xfrm>
          <a:prstGeom prst="roundRect">
            <a:avLst>
              <a:gd name="adj" fmla="val 3582"/>
            </a:avLst>
          </a:prstGeom>
          <a:solidFill>
            <a:srgbClr val="4A2E22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sp>
        <p:nvSpPr>
          <p:cNvPr id="2" name="Shape 0"/>
          <p:cNvSpPr/>
          <p:nvPr/>
        </p:nvSpPr>
        <p:spPr>
          <a:xfrm>
            <a:off x="502920" y="438912"/>
            <a:ext cx="749808" cy="749808"/>
          </a:xfrm>
          <a:prstGeom prst="ellipse">
            <a:avLst/>
          </a:prstGeom>
          <a:solidFill>
            <a:srgbClr val="5C6B47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pic>
        <p:nvPicPr>
          <p:cNvPr id="3" name="Image 0" descr="/home/claude/apresentacao/icons/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395" y="519943"/>
            <a:ext cx="554858" cy="55485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44752" y="45720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C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2 DE 6  ·  RF03 · RF04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416854" y="923544"/>
            <a:ext cx="34228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4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— Próximos Eventos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83080"/>
            <a:ext cx="3903287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E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principal após o login. Barras de busca por cidade e por produto/subproduto, e lista de cards dos eventos próximos de carneamento.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3398642"/>
            <a:ext cx="399888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6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barras de busca (cidade / produto) no topo.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6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de evento, com data, cidade/UF e ícone do animal (boi ou porco).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6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do produtor e sua nota em estrelas em cada card.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6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card já agendado, destacado em verde.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7A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50292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7A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&amp; Tradição</a:t>
            </a:r>
            <a:endParaRPr lang="en-US" sz="1000" dirty="0"/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08F56AC8-4804-4307-09BC-B2850D88E3E5}"/>
              </a:ext>
            </a:extLst>
          </p:cNvPr>
          <p:cNvSpPr/>
          <p:nvPr/>
        </p:nvSpPr>
        <p:spPr>
          <a:xfrm>
            <a:off x="5297425" y="633862"/>
            <a:ext cx="6619950" cy="5584058"/>
          </a:xfrm>
          <a:prstGeom prst="roundRect">
            <a:avLst>
              <a:gd name="adj" fmla="val 5070"/>
            </a:avLst>
          </a:prstGeom>
          <a:solidFill>
            <a:schemeClr val="tx1"/>
          </a:solidFill>
          <a:ln w="28575">
            <a:solidFill>
              <a:srgbClr val="5C6B47"/>
            </a:solidFill>
            <a:prstDash val="dash"/>
          </a:ln>
        </p:spPr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EB443126-BA0B-85A1-9DFF-2F30E6CFF302}"/>
              </a:ext>
            </a:extLst>
          </p:cNvPr>
          <p:cNvSpPr txBox="1"/>
          <p:nvPr/>
        </p:nvSpPr>
        <p:spPr>
          <a:xfrm>
            <a:off x="7061664" y="5828144"/>
            <a:ext cx="2788920" cy="225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2 — Home — </a:t>
            </a:r>
            <a:r>
              <a:rPr lang="en-US" sz="12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</a:t>
            </a:r>
            <a:r>
              <a:rPr lang="en-US" sz="12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</a:t>
            </a:r>
            <a:endParaRPr lang="en-US" sz="1200" i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3769B791-72A7-FEAA-A99B-2871470D477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8054" y="643387"/>
            <a:ext cx="2489344" cy="505712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E1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4">
            <a:extLst>
              <a:ext uri="{FF2B5EF4-FFF2-40B4-BE49-F238E27FC236}">
                <a16:creationId xmlns:a16="http://schemas.microsoft.com/office/drawing/2014/main" id="{E419CF02-0547-1310-AEB2-EBED8746E91E}"/>
              </a:ext>
            </a:extLst>
          </p:cNvPr>
          <p:cNvSpPr/>
          <p:nvPr/>
        </p:nvSpPr>
        <p:spPr>
          <a:xfrm>
            <a:off x="548640" y="3154680"/>
            <a:ext cx="4556760" cy="3063240"/>
          </a:xfrm>
          <a:prstGeom prst="roundRect">
            <a:avLst>
              <a:gd name="adj" fmla="val 3582"/>
            </a:avLst>
          </a:prstGeom>
          <a:solidFill>
            <a:srgbClr val="4A2E22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sp>
        <p:nvSpPr>
          <p:cNvPr id="2" name="Shape 0"/>
          <p:cNvSpPr/>
          <p:nvPr/>
        </p:nvSpPr>
        <p:spPr>
          <a:xfrm>
            <a:off x="502920" y="438912"/>
            <a:ext cx="749808" cy="749808"/>
          </a:xfrm>
          <a:prstGeom prst="ellipse">
            <a:avLst/>
          </a:prstGeom>
          <a:solidFill>
            <a:srgbClr val="5C6B47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pic>
        <p:nvPicPr>
          <p:cNvPr id="3" name="Image 0" descr="/home/claude/apresentacao/icons/in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870" y="633862"/>
            <a:ext cx="359908" cy="3599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44752" y="45720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C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3 DE 6  ·  RF05 · 06 · 07 · 09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444752" y="7315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4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Detalhes do Evento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83080"/>
            <a:ext cx="4420797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E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Informações completas do evento e tabela de preços por corte, com seleção dos itens de interesse e as três ações principais.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444240"/>
            <a:ext cx="4100757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6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"Preço (R$/KG)" por corte, com checkboxes marcados.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6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Botões "Agendar Carneação", "Chamar Produtor" e "Localização".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 err="1">
                <a:solidFill>
                  <a:srgbClr val="F6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</a:t>
            </a:r>
            <a:r>
              <a:rPr lang="en-US" sz="1250" dirty="0">
                <a:solidFill>
                  <a:srgbClr val="F6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já como "Carneação Agendada ✓" , mostrando o estado pós-agendamento.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7A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50292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7A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&amp; Tradição</a:t>
            </a:r>
            <a:endParaRPr lang="en-US" sz="1000" dirty="0"/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0CF0A494-CF60-050C-6617-6BA7D875C6E3}"/>
              </a:ext>
            </a:extLst>
          </p:cNvPr>
          <p:cNvSpPr/>
          <p:nvPr/>
        </p:nvSpPr>
        <p:spPr>
          <a:xfrm>
            <a:off x="5297425" y="633862"/>
            <a:ext cx="6619950" cy="5584058"/>
          </a:xfrm>
          <a:prstGeom prst="roundRect">
            <a:avLst>
              <a:gd name="adj" fmla="val 5070"/>
            </a:avLst>
          </a:prstGeom>
          <a:solidFill>
            <a:schemeClr val="tx1"/>
          </a:solidFill>
          <a:ln w="28575">
            <a:solidFill>
              <a:srgbClr val="5C6B47"/>
            </a:solidFill>
            <a:prstDash val="dash"/>
          </a:ln>
        </p:spPr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E5562A57-13FD-7CCF-C4C6-589CEE034235}"/>
              </a:ext>
            </a:extLst>
          </p:cNvPr>
          <p:cNvSpPr txBox="1"/>
          <p:nvPr/>
        </p:nvSpPr>
        <p:spPr>
          <a:xfrm>
            <a:off x="7061664" y="5828144"/>
            <a:ext cx="2788920" cy="225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3 — </a:t>
            </a:r>
            <a:r>
              <a:rPr lang="en-US" sz="12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Detalhes</a:t>
            </a:r>
            <a:r>
              <a:rPr lang="en-US" sz="12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12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49C27EE6-AFD7-F3B3-6D15-8793093A9A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4045" y="659526"/>
            <a:ext cx="2462211" cy="5162154"/>
          </a:xfrm>
          <a:prstGeom prst="rect">
            <a:avLst/>
          </a:prstGeom>
          <a:solidFill>
            <a:srgbClr val="5C6B47"/>
          </a:solidFill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850B08F7-C73C-1CA5-0307-A837352DF5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5217" y="649926"/>
            <a:ext cx="2462211" cy="5162154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7660CEFF-7BD2-063D-0B8F-283A4BF59F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0355" y="3288144"/>
            <a:ext cx="2142660" cy="1812144"/>
          </a:xfrm>
          <a:prstGeom prst="rect">
            <a:avLst/>
          </a:prstGeom>
        </p:spPr>
      </p:pic>
      <p:pic>
        <p:nvPicPr>
          <p:cNvPr id="33" name="Imagem 32">
            <a:extLst>
              <a:ext uri="{FF2B5EF4-FFF2-40B4-BE49-F238E27FC236}">
                <a16:creationId xmlns:a16="http://schemas.microsoft.com/office/drawing/2014/main" id="{6FB978AF-9030-7AAC-6158-B85061FE01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6431" y="3288144"/>
            <a:ext cx="2105319" cy="185895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E1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4">
            <a:extLst>
              <a:ext uri="{FF2B5EF4-FFF2-40B4-BE49-F238E27FC236}">
                <a16:creationId xmlns:a16="http://schemas.microsoft.com/office/drawing/2014/main" id="{6A554C8C-5A9E-381A-E85B-D4A3F6D623AF}"/>
              </a:ext>
            </a:extLst>
          </p:cNvPr>
          <p:cNvSpPr/>
          <p:nvPr/>
        </p:nvSpPr>
        <p:spPr>
          <a:xfrm>
            <a:off x="548640" y="3154680"/>
            <a:ext cx="4556760" cy="3063240"/>
          </a:xfrm>
          <a:prstGeom prst="roundRect">
            <a:avLst>
              <a:gd name="adj" fmla="val 3582"/>
            </a:avLst>
          </a:prstGeom>
          <a:solidFill>
            <a:srgbClr val="4A2E22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sp>
        <p:nvSpPr>
          <p:cNvPr id="2" name="Shape 0"/>
          <p:cNvSpPr/>
          <p:nvPr/>
        </p:nvSpPr>
        <p:spPr>
          <a:xfrm>
            <a:off x="502920" y="438912"/>
            <a:ext cx="749808" cy="749808"/>
          </a:xfrm>
          <a:prstGeom prst="ellipse">
            <a:avLst/>
          </a:prstGeom>
          <a:solidFill>
            <a:srgbClr val="5C6B47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pic>
        <p:nvPicPr>
          <p:cNvPr id="3" name="Image 0" descr="/home/claude/apresentacao/icons/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870" y="633862"/>
            <a:ext cx="359908" cy="3599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44752" y="45720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C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4 DE 6  ·  RF08 · RF11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444752" y="7315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4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com o Produtor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83080"/>
            <a:ext cx="430911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E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 direta entre comprador e produtor em tempo real, por evento, usando o Firestore como canal de mensagens.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450704"/>
            <a:ext cx="4126193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6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do produtor no topo da conversa.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 err="1">
                <a:solidFill>
                  <a:srgbClr val="F6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</a:t>
            </a:r>
            <a:r>
              <a:rPr lang="en-US" sz="1250" dirty="0">
                <a:solidFill>
                  <a:srgbClr val="F6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cada lado, com horário.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6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Balão do produtor identificado como "Anfitrião", em cor diferenciada.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6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de digitação de texto na base da tela.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7A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50292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7A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&amp; Tradição</a:t>
            </a:r>
            <a:endParaRPr lang="en-US" sz="1000" dirty="0"/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D8F2588A-B3D9-1557-F61D-7F08B704F486}"/>
              </a:ext>
            </a:extLst>
          </p:cNvPr>
          <p:cNvSpPr/>
          <p:nvPr/>
        </p:nvSpPr>
        <p:spPr>
          <a:xfrm>
            <a:off x="5297425" y="633862"/>
            <a:ext cx="6619950" cy="5584058"/>
          </a:xfrm>
          <a:prstGeom prst="roundRect">
            <a:avLst>
              <a:gd name="adj" fmla="val 5070"/>
            </a:avLst>
          </a:prstGeom>
          <a:solidFill>
            <a:schemeClr val="tx1"/>
          </a:solidFill>
          <a:ln w="28575">
            <a:solidFill>
              <a:srgbClr val="5C6B47"/>
            </a:solidFill>
            <a:prstDash val="dash"/>
          </a:ln>
        </p:spPr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FA15EE28-2DC5-340C-7653-115E49074422}"/>
              </a:ext>
            </a:extLst>
          </p:cNvPr>
          <p:cNvSpPr txBox="1"/>
          <p:nvPr/>
        </p:nvSpPr>
        <p:spPr>
          <a:xfrm>
            <a:off x="7061664" y="5828144"/>
            <a:ext cx="2788920" cy="225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pt-BR" sz="12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4 — Chat com o Produtor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E5DF65E2-7417-5FFA-C596-F8EBB444A37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9771" y="717421"/>
            <a:ext cx="2417573" cy="500631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DE1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4">
            <a:extLst>
              <a:ext uri="{FF2B5EF4-FFF2-40B4-BE49-F238E27FC236}">
                <a16:creationId xmlns:a16="http://schemas.microsoft.com/office/drawing/2014/main" id="{372E4C1A-ADE7-DDD5-978B-2AD160632752}"/>
              </a:ext>
            </a:extLst>
          </p:cNvPr>
          <p:cNvSpPr/>
          <p:nvPr/>
        </p:nvSpPr>
        <p:spPr>
          <a:xfrm>
            <a:off x="548640" y="3154680"/>
            <a:ext cx="4556760" cy="3063240"/>
          </a:xfrm>
          <a:prstGeom prst="roundRect">
            <a:avLst>
              <a:gd name="adj" fmla="val 3582"/>
            </a:avLst>
          </a:prstGeom>
          <a:solidFill>
            <a:srgbClr val="4A2E22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sp>
        <p:nvSpPr>
          <p:cNvPr id="2" name="Shape 0"/>
          <p:cNvSpPr/>
          <p:nvPr/>
        </p:nvSpPr>
        <p:spPr>
          <a:xfrm>
            <a:off x="502920" y="438912"/>
            <a:ext cx="749808" cy="749808"/>
          </a:xfrm>
          <a:prstGeom prst="ellipse">
            <a:avLst/>
          </a:prstGeom>
          <a:solidFill>
            <a:srgbClr val="5C6B47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pic>
        <p:nvPicPr>
          <p:cNvPr id="3" name="Image 0" descr="/home/claude/apresentacao/icons/s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870" y="633862"/>
            <a:ext cx="359908" cy="3599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44752" y="45720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C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5 DE 6  ·  RF02 · RF10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444752" y="7315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4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Perfil e Avaliação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83080"/>
            <a:ext cx="442341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E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do usuário, próximos eventos, histórico de participações concluídas com nota, e — para produtores — "Meus Eventos Finalizados".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497580"/>
            <a:ext cx="4008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6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Nome, foto e nota em estrelas com o número de avaliações (ex.: ★ 4,5 — 6 avaliações).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6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"Histórico de Participações" com  um evento concluído.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6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conta produtora: seção "Meus Eventos Finalizados" visível.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7A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50292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7A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&amp; Tradição</a:t>
            </a:r>
            <a:endParaRPr lang="en-US" sz="1000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C9A5BB7E-BB06-6C7F-AA0F-C74729BC5A14}"/>
              </a:ext>
            </a:extLst>
          </p:cNvPr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7A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1D9F10CF-75FA-C4D2-DDD6-52742A0B9E3C}"/>
              </a:ext>
            </a:extLst>
          </p:cNvPr>
          <p:cNvSpPr/>
          <p:nvPr/>
        </p:nvSpPr>
        <p:spPr>
          <a:xfrm>
            <a:off x="5297425" y="633862"/>
            <a:ext cx="6619950" cy="5584058"/>
          </a:xfrm>
          <a:prstGeom prst="roundRect">
            <a:avLst>
              <a:gd name="adj" fmla="val 5070"/>
            </a:avLst>
          </a:prstGeom>
          <a:solidFill>
            <a:schemeClr val="tx1"/>
          </a:solidFill>
          <a:ln w="28575">
            <a:solidFill>
              <a:srgbClr val="5C6B47"/>
            </a:solidFill>
            <a:prstDash val="dash"/>
          </a:ln>
        </p:spPr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49A0BBD2-39F5-54CD-16F2-C249C8B2A92D}"/>
              </a:ext>
            </a:extLst>
          </p:cNvPr>
          <p:cNvSpPr txBox="1"/>
          <p:nvPr/>
        </p:nvSpPr>
        <p:spPr>
          <a:xfrm>
            <a:off x="7061664" y="5828144"/>
            <a:ext cx="2788920" cy="225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pt-BR" sz="12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5 — Perfil e Avaliação</a:t>
            </a: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F7484366-9D57-26EA-8F17-252A58D4A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7469" y="659526"/>
            <a:ext cx="2462211" cy="5162154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2BAB54DE-5B15-CEA7-D97B-B80365EBA5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724" y="622408"/>
            <a:ext cx="2462211" cy="51992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DE1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4">
            <a:extLst>
              <a:ext uri="{FF2B5EF4-FFF2-40B4-BE49-F238E27FC236}">
                <a16:creationId xmlns:a16="http://schemas.microsoft.com/office/drawing/2014/main" id="{A55207C3-2768-F46A-68D8-D611473D4136}"/>
              </a:ext>
            </a:extLst>
          </p:cNvPr>
          <p:cNvSpPr/>
          <p:nvPr/>
        </p:nvSpPr>
        <p:spPr>
          <a:xfrm>
            <a:off x="548640" y="3154680"/>
            <a:ext cx="4556760" cy="3063240"/>
          </a:xfrm>
          <a:prstGeom prst="roundRect">
            <a:avLst>
              <a:gd name="adj" fmla="val 3582"/>
            </a:avLst>
          </a:prstGeom>
          <a:solidFill>
            <a:srgbClr val="4A2E22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sp>
        <p:nvSpPr>
          <p:cNvPr id="2" name="Shape 0"/>
          <p:cNvSpPr/>
          <p:nvPr/>
        </p:nvSpPr>
        <p:spPr>
          <a:xfrm>
            <a:off x="502920" y="438912"/>
            <a:ext cx="749808" cy="749808"/>
          </a:xfrm>
          <a:prstGeom prst="ellipse">
            <a:avLst/>
          </a:prstGeom>
          <a:solidFill>
            <a:srgbClr val="5C6B47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pic>
        <p:nvPicPr>
          <p:cNvPr id="3" name="Image 0" descr="/home/claude/apresentacao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870" y="633862"/>
            <a:ext cx="359908" cy="3599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44752" y="45720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C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6 DE 6  ·  RF10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444752" y="917448"/>
            <a:ext cx="32380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4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Finalizar Evento e Avaliar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83080"/>
            <a:ext cx="442341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E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mais elaborado da AA2: o produtor finaliza o evento (com fotos da carneação) e libera a avaliação em estrelas nos dois sentidos.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388823"/>
            <a:ext cx="381415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6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Botão/tela "Finalizar Evento" com opção de anexar até três fotos.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6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Diálogo de avaliação em estrelas (seleção de 1 a 5) para um comprador ou produtor.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6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nota </a:t>
            </a:r>
            <a:r>
              <a:rPr lang="en-US" sz="1250" dirty="0" err="1">
                <a:solidFill>
                  <a:srgbClr val="F6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</a:t>
            </a:r>
            <a:r>
              <a:rPr lang="en-US" sz="1250" dirty="0">
                <a:solidFill>
                  <a:srgbClr val="F6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</a:t>
            </a:r>
            <a:r>
              <a:rPr lang="en-US" sz="1250" dirty="0" err="1">
                <a:solidFill>
                  <a:srgbClr val="F6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refletida</a:t>
            </a:r>
            <a:r>
              <a:rPr lang="en-US" sz="1250" dirty="0">
                <a:solidFill>
                  <a:srgbClr val="F6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card ou no perfil logo em seguida.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7A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50292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7A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&amp; Tradição</a:t>
            </a:r>
            <a:endParaRPr lang="en-US" sz="1000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EDD6E06F-EB84-C36E-D9B9-96457EC89E9B}"/>
              </a:ext>
            </a:extLst>
          </p:cNvPr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7A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538608F6-406A-6B3B-2843-02C7DB4101D0}"/>
              </a:ext>
            </a:extLst>
          </p:cNvPr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7A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65B8B1CB-5BE4-0D2C-AB71-E4A87038B06E}"/>
              </a:ext>
            </a:extLst>
          </p:cNvPr>
          <p:cNvSpPr/>
          <p:nvPr/>
        </p:nvSpPr>
        <p:spPr>
          <a:xfrm>
            <a:off x="5297425" y="633862"/>
            <a:ext cx="6619950" cy="5584058"/>
          </a:xfrm>
          <a:prstGeom prst="roundRect">
            <a:avLst>
              <a:gd name="adj" fmla="val 5070"/>
            </a:avLst>
          </a:prstGeom>
          <a:solidFill>
            <a:schemeClr val="tx1"/>
          </a:solidFill>
          <a:ln w="28575">
            <a:solidFill>
              <a:srgbClr val="5C6B47"/>
            </a:solidFill>
            <a:prstDash val="dash"/>
          </a:ln>
        </p:spPr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2391347A-20EB-49D8-A2C3-53C50359D457}"/>
              </a:ext>
            </a:extLst>
          </p:cNvPr>
          <p:cNvSpPr txBox="1"/>
          <p:nvPr/>
        </p:nvSpPr>
        <p:spPr>
          <a:xfrm>
            <a:off x="7061664" y="5828144"/>
            <a:ext cx="2788920" cy="225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pt-BR" sz="12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6 — Finalizar Evento e Avaliar</a:t>
            </a: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C12F4E6C-2F17-11DE-DD8B-9DF8B888BE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3814" y="704235"/>
            <a:ext cx="2462211" cy="5123909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644641C4-1AB4-AD8F-AE8C-C5D24C1263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7199" y="683618"/>
            <a:ext cx="2462212" cy="5145682"/>
          </a:xfrm>
          <a:prstGeom prst="rect">
            <a:avLst/>
          </a:prstGeom>
        </p:spPr>
      </p:pic>
      <p:cxnSp>
        <p:nvCxnSpPr>
          <p:cNvPr id="30" name="Conector de Seta Reta 29">
            <a:extLst>
              <a:ext uri="{FF2B5EF4-FFF2-40B4-BE49-F238E27FC236}">
                <a16:creationId xmlns:a16="http://schemas.microsoft.com/office/drawing/2014/main" id="{269E4550-D66C-5597-8FA5-8A18E0C24B1D}"/>
              </a:ext>
            </a:extLst>
          </p:cNvPr>
          <p:cNvCxnSpPr/>
          <p:nvPr/>
        </p:nvCxnSpPr>
        <p:spPr>
          <a:xfrm flipV="1">
            <a:off x="5667375" y="4724400"/>
            <a:ext cx="990600" cy="866775"/>
          </a:xfrm>
          <a:prstGeom prst="straightConnector1">
            <a:avLst/>
          </a:prstGeom>
          <a:ln w="57150">
            <a:solidFill>
              <a:srgbClr val="5C6B4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DE1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749808" cy="749808"/>
          </a:xfrm>
          <a:prstGeom prst="ellipse">
            <a:avLst/>
          </a:prstGeom>
          <a:solidFill>
            <a:srgbClr val="5C6B47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pic>
        <p:nvPicPr>
          <p:cNvPr id="3" name="Image 0" descr="/home/claude/apresentacao/icons/b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870" y="633862"/>
            <a:ext cx="359908" cy="3599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44752" y="45720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C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TÉCNICOS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444752" y="73152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Sincronização local ↔ remoto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5806440" cy="4434840"/>
          </a:xfrm>
          <a:prstGeom prst="roundRect">
            <a:avLst>
              <a:gd name="adj" fmla="val 2474"/>
            </a:avLst>
          </a:prstGeom>
          <a:solidFill>
            <a:srgbClr val="FBF7EE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68680" y="20116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A845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sintoma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377440"/>
            <a:ext cx="5212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E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dispositivo do produtor, o Room nunca continha as participações nem os perfis dos compradores — só os do próprio produtor. "Finalizar evento" e "calcular a nova média" liam um cache sempre vazio e não faziam nada, sem erro visível.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7033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A845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diagnóstico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06908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E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de depuração com tag dedicada, lidos via Logcat durante um teste real, confirmaram que a gravação no Firestore sempre funcionava — o problema estava inteiramente do lado da leitura local.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51206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5C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solução</a:t>
            </a:r>
            <a:endParaRPr lang="en-US" sz="155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548640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E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Leituras "local-only" substituídas por busca direta ao Firestore sempre que o dado não estava no cache — preenchendo o cache local a partir dessa busca.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537960" y="1783080"/>
            <a:ext cx="5120640" cy="4434840"/>
          </a:xfrm>
          <a:prstGeom prst="roundRect">
            <a:avLst>
              <a:gd name="adj" fmla="val 2474"/>
            </a:avLst>
          </a:prstGeom>
          <a:solidFill>
            <a:srgbClr val="4A2E22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858000" y="2011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6E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Reincidência do mesmo padrão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858000" y="2514600"/>
            <a:ext cx="457200" cy="457200"/>
          </a:xfrm>
          <a:prstGeom prst="ellipse">
            <a:avLst/>
          </a:prstGeom>
          <a:solidFill>
            <a:srgbClr val="A8452C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pic>
        <p:nvPicPr>
          <p:cNvPr id="16" name="Image 1" descr="/home/claude/apresentacao/icons/syn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6872" y="2633472"/>
            <a:ext cx="219456" cy="219456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452360" y="248716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do usuário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7452360" y="276148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em estrelas dada por outro usuário não aparecia no próprio perfil.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858000" y="3410712"/>
            <a:ext cx="457200" cy="457200"/>
          </a:xfrm>
          <a:prstGeom prst="ellipse">
            <a:avLst/>
          </a:prstGeom>
          <a:solidFill>
            <a:srgbClr val="A8452C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pic>
        <p:nvPicPr>
          <p:cNvPr id="20" name="Image 2" descr="/home/claude/apresentacao/icons/syn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6872" y="3529584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452360" y="338328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Participações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7452360" y="365760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agendados "sumiam" após recriação do banco local.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858000" y="4306824"/>
            <a:ext cx="457200" cy="457200"/>
          </a:xfrm>
          <a:prstGeom prst="ellipse">
            <a:avLst/>
          </a:prstGeom>
          <a:solidFill>
            <a:srgbClr val="A8452C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pic>
        <p:nvPicPr>
          <p:cNvPr id="24" name="Image 3" descr="/home/claude/apresentacao/icons/syn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6872" y="4425696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452360" y="427939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Avaliações entre usuários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7452360" y="4553712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de participações/perfis de terceiros pelo produtor.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6858000" y="5257800"/>
            <a:ext cx="4526280" cy="0"/>
          </a:xfrm>
          <a:prstGeom prst="line">
            <a:avLst/>
          </a:prstGeom>
          <a:noFill/>
          <a:ln w="12700">
            <a:solidFill>
              <a:srgbClr val="6E5847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6858000" y="544068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E4D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causa raiz, três contextos diferentes — resolvidos com a mesma técnica de fallback para o Firestore.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7A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50292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7A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&amp; Tradição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DE1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749808" cy="749808"/>
          </a:xfrm>
          <a:prstGeom prst="ellipse">
            <a:avLst/>
          </a:prstGeom>
          <a:solidFill>
            <a:srgbClr val="5C6B47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pic>
        <p:nvPicPr>
          <p:cNvPr id="3" name="Image 0" descr="/home/claude/apresentacao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870" y="633862"/>
            <a:ext cx="359908" cy="3599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44752" y="45720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C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TÉCNICOS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444752" y="73152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Regras de segurança do Firestore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83080"/>
            <a:ext cx="5349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E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avaliação pós-evento exige que uma conta escreva em documentos de outra (o produtor grava a nota do comprador, e vice-versa). As regras padrão do Firestore bloqueiam esse tipo de escrita cruzada.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926080"/>
            <a:ext cx="5349240" cy="3291840"/>
          </a:xfrm>
          <a:prstGeom prst="roundRect">
            <a:avLst>
              <a:gd name="adj" fmla="val 3333"/>
            </a:avLst>
          </a:prstGeom>
          <a:solidFill>
            <a:srgbClr val="5C6B47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3200400"/>
            <a:ext cx="594360" cy="594360"/>
          </a:xfrm>
          <a:prstGeom prst="ellipse">
            <a:avLst/>
          </a:prstGeom>
          <a:solidFill>
            <a:srgbClr val="A8452C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pic>
        <p:nvPicPr>
          <p:cNvPr id="9" name="Image 1" descr="/home/claude/apresentacao/icons/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494" y="3354934"/>
            <a:ext cx="285293" cy="28529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3246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6E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Solução adotada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38862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E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ajustadas para liberar leitura e escrita a qualquer usuário autenticado (não anônimo) — mantendo a exigência de login, adequado ao escopo de um trabalho acadêmico, sem depender de Cloud Functions.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68680" y="5166360"/>
            <a:ext cx="4754880" cy="822960"/>
          </a:xfrm>
          <a:prstGeom prst="roundRect">
            <a:avLst>
              <a:gd name="adj" fmla="val 8889"/>
            </a:avLst>
          </a:prstGeom>
          <a:solidFill>
            <a:srgbClr val="3E4A31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1005840" y="51663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E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 read, write: if request.auth != null;</a:t>
            </a:r>
            <a:endParaRPr lang="en-US" sz="1200" dirty="0"/>
          </a:p>
        </p:txBody>
      </p:sp>
      <p:pic>
        <p:nvPicPr>
          <p:cNvPr id="14" name="Image 2" descr="/home/claude/relatorio/firestore_rules_crop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72200" y="1828800"/>
            <a:ext cx="5486400" cy="23317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172200" y="42519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publicada no Firebase Console (Firestore Database → Regras) — evidência real do projeto.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172200" y="4892040"/>
            <a:ext cx="5486400" cy="1325880"/>
          </a:xfrm>
          <a:prstGeom prst="roundRect">
            <a:avLst>
              <a:gd name="adj" fmla="val 8276"/>
            </a:avLst>
          </a:prstGeom>
          <a:solidFill>
            <a:srgbClr val="FBF7EE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>
            <a:off x="6446520" y="502920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A8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Limitação assumida:  </a:t>
            </a:r>
            <a:r>
              <a:rPr lang="en-US" sz="1200" dirty="0">
                <a:solidFill>
                  <a:srgbClr val="2E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 granularidade de "cada um só escreve no próprio documento" que um app em produção exigiria — troca consciente de escopo, sem impacto na avaliação acadêmica do requisito.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7A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50292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7A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&amp; Tradição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DE1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749808" cy="749808"/>
          </a:xfrm>
          <a:prstGeom prst="ellipse">
            <a:avLst/>
          </a:prstGeom>
          <a:solidFill>
            <a:srgbClr val="5C6B47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pic>
        <p:nvPicPr>
          <p:cNvPr id="3" name="Image 0" descr="/home/claude/apresentacao/icons/v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870" y="633862"/>
            <a:ext cx="359908" cy="3599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44752" y="45720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C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444752" y="73152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Testes realizados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3538728" cy="1920240"/>
          </a:xfrm>
          <a:prstGeom prst="roundRect">
            <a:avLst>
              <a:gd name="adj" fmla="val 5714"/>
            </a:avLst>
          </a:prstGeom>
          <a:solidFill>
            <a:srgbClr val="FBF7EE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2057400"/>
            <a:ext cx="548640" cy="548640"/>
          </a:xfrm>
          <a:prstGeom prst="ellipse">
            <a:avLst/>
          </a:prstGeom>
          <a:solidFill>
            <a:srgbClr val="5C6B47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pic>
        <p:nvPicPr>
          <p:cNvPr id="8" name="Image 1" descr="/home/claude/apresentacao/icons/sign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" y="2200046"/>
            <a:ext cx="263347" cy="26334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2103120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Autenticação</a:t>
            </a:r>
            <a:endParaRPr lang="en-US" sz="14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724912"/>
            <a:ext cx="3081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B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com Google e por e-mail/senha, incluindo reabertura do app com sessão já autenticada e banco local recriado.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334256" y="1828800"/>
            <a:ext cx="3538728" cy="1920240"/>
          </a:xfrm>
          <a:prstGeom prst="roundRect">
            <a:avLst>
              <a:gd name="adj" fmla="val 5714"/>
            </a:avLst>
          </a:prstGeom>
          <a:solidFill>
            <a:srgbClr val="FBF7EE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62856" y="2057400"/>
            <a:ext cx="548640" cy="548640"/>
          </a:xfrm>
          <a:prstGeom prst="ellipse">
            <a:avLst/>
          </a:prstGeom>
          <a:solidFill>
            <a:srgbClr val="A8452C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pic>
        <p:nvPicPr>
          <p:cNvPr id="13" name="Image 2" descr="/home/claude/apresentacao/icons/ch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5502" y="2200046"/>
            <a:ext cx="263347" cy="26334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248656" y="2103120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 real</a:t>
            </a:r>
            <a:endParaRPr lang="en-US" sz="1450" dirty="0"/>
          </a:p>
        </p:txBody>
      </p:sp>
      <p:sp>
        <p:nvSpPr>
          <p:cNvPr id="15" name="Text 10"/>
          <p:cNvSpPr txBox="1"/>
          <p:nvPr/>
        </p:nvSpPr>
        <p:spPr>
          <a:xfrm>
            <a:off x="4562856" y="2724912"/>
            <a:ext cx="3081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B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(RF08) e notificações (RF11) testados ao vivo entre dois emuladores rodando simultaneamente, duas contas distintas.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8119872" y="1828800"/>
            <a:ext cx="3538728" cy="1920240"/>
          </a:xfrm>
          <a:prstGeom prst="roundRect">
            <a:avLst>
              <a:gd name="adj" fmla="val 5714"/>
            </a:avLst>
          </a:prstGeom>
          <a:solidFill>
            <a:srgbClr val="FBF7EE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348472" y="2057400"/>
            <a:ext cx="548640" cy="548640"/>
          </a:xfrm>
          <a:prstGeom prst="ellipse">
            <a:avLst/>
          </a:prstGeom>
          <a:solidFill>
            <a:srgbClr val="5C6B47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pic>
        <p:nvPicPr>
          <p:cNvPr id="18" name="Image 3" descr="/home/claude/apresentacao/icons/s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1118" y="2200046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34272" y="2103120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Avaliação recíproca</a:t>
            </a:r>
            <a:endParaRPr lang="en-US" sz="1450" dirty="0"/>
          </a:p>
        </p:txBody>
      </p:sp>
      <p:sp>
        <p:nvSpPr>
          <p:cNvPr id="20" name="Text 14"/>
          <p:cNvSpPr txBox="1"/>
          <p:nvPr/>
        </p:nvSpPr>
        <p:spPr>
          <a:xfrm>
            <a:off x="8348472" y="2724912"/>
            <a:ext cx="3081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B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RF10 testado de ponta a ponta com duas contas reais — produtor e comprador — confirmando a nota persistindo nos dois perfis.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48640" y="3977640"/>
            <a:ext cx="3538728" cy="1920240"/>
          </a:xfrm>
          <a:prstGeom prst="roundRect">
            <a:avLst>
              <a:gd name="adj" fmla="val 5714"/>
            </a:avLst>
          </a:prstGeom>
          <a:solidFill>
            <a:srgbClr val="FBF7EE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77240" y="4206240"/>
            <a:ext cx="548640" cy="548640"/>
          </a:xfrm>
          <a:prstGeom prst="ellipse">
            <a:avLst/>
          </a:prstGeom>
          <a:solidFill>
            <a:srgbClr val="A8452C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pic>
        <p:nvPicPr>
          <p:cNvPr id="23" name="Image 4" descr="/home/claude/apresentacao/icons/loc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9886" y="4348886"/>
            <a:ext cx="263347" cy="263347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463040" y="4251960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Localização</a:t>
            </a:r>
            <a:endParaRPr lang="en-US" sz="1450" dirty="0"/>
          </a:p>
        </p:txBody>
      </p:sp>
      <p:sp>
        <p:nvSpPr>
          <p:cNvPr id="25" name="Text 18"/>
          <p:cNvSpPr txBox="1"/>
          <p:nvPr/>
        </p:nvSpPr>
        <p:spPr>
          <a:xfrm>
            <a:off x="777240" y="4873752"/>
            <a:ext cx="3081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B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Localização simulada via ADB (geo fix), validando a liberação do endereço só após confirmação de presença (RNF05).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4334256" y="3977640"/>
            <a:ext cx="3538728" cy="1920240"/>
          </a:xfrm>
          <a:prstGeom prst="roundRect">
            <a:avLst>
              <a:gd name="adj" fmla="val 5714"/>
            </a:avLst>
          </a:prstGeom>
          <a:solidFill>
            <a:srgbClr val="FBF7EE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562856" y="4206240"/>
            <a:ext cx="548640" cy="548640"/>
          </a:xfrm>
          <a:prstGeom prst="ellipse">
            <a:avLst/>
          </a:prstGeom>
          <a:solidFill>
            <a:srgbClr val="5C6B47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pic>
        <p:nvPicPr>
          <p:cNvPr id="28" name="Image 5" descr="/home/claude/apresentacao/icons/wif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5502" y="4348886"/>
            <a:ext cx="263347" cy="263347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248656" y="4251960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Cenários offline</a:t>
            </a:r>
            <a:endParaRPr lang="en-US" sz="1450" dirty="0"/>
          </a:p>
        </p:txBody>
      </p:sp>
      <p:sp>
        <p:nvSpPr>
          <p:cNvPr id="30" name="Text 22"/>
          <p:cNvSpPr txBox="1"/>
          <p:nvPr/>
        </p:nvSpPr>
        <p:spPr>
          <a:xfrm>
            <a:off x="4562856" y="4873752"/>
            <a:ext cx="3081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B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 testadas sem conexão, validando que o cache local mantém a interface funcional e sincroniza ao reconectar.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8119872" y="3977640"/>
            <a:ext cx="3538728" cy="1920240"/>
          </a:xfrm>
          <a:prstGeom prst="roundRect">
            <a:avLst>
              <a:gd name="adj" fmla="val 5714"/>
            </a:avLst>
          </a:prstGeom>
          <a:solidFill>
            <a:srgbClr val="FBF7EE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348472" y="4206240"/>
            <a:ext cx="548640" cy="548640"/>
          </a:xfrm>
          <a:prstGeom prst="ellipse">
            <a:avLst/>
          </a:prstGeom>
          <a:solidFill>
            <a:srgbClr val="A8452C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pic>
        <p:nvPicPr>
          <p:cNvPr id="33" name="Image 6" descr="/home/claude/apresentacao/icons/bu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91118" y="4348886"/>
            <a:ext cx="263347" cy="263347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9034272" y="4251960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Regressão de bugs</a:t>
            </a:r>
            <a:endParaRPr lang="en-US" sz="1450" dirty="0"/>
          </a:p>
        </p:txBody>
      </p:sp>
      <p:sp>
        <p:nvSpPr>
          <p:cNvPr id="35" name="Text 26"/>
          <p:cNvSpPr txBox="1"/>
          <p:nvPr/>
        </p:nvSpPr>
        <p:spPr>
          <a:xfrm>
            <a:off x="8348472" y="4873752"/>
            <a:ext cx="3081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B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bug de sincronização corrigido foi reproduzido antes da correção e reverificado depois, em Logcat, até sumir.</a:t>
            </a:r>
            <a:endParaRPr lang="en-US" sz="1100" dirty="0"/>
          </a:p>
        </p:txBody>
      </p:sp>
      <p:sp>
        <p:nvSpPr>
          <p:cNvPr id="36" name="Text 27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7A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37" name="Text 28"/>
          <p:cNvSpPr txBox="1"/>
          <p:nvPr/>
        </p:nvSpPr>
        <p:spPr>
          <a:xfrm>
            <a:off x="50292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7A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&amp; Tradição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DE1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749808" cy="749808"/>
          </a:xfrm>
          <a:prstGeom prst="ellipse">
            <a:avLst/>
          </a:prstGeom>
          <a:solidFill>
            <a:srgbClr val="5C6B47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pic>
        <p:nvPicPr>
          <p:cNvPr id="3" name="Image 0" descr="/home/claude/apresentacao/icons/git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870" y="633862"/>
            <a:ext cx="359908" cy="3599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44752" y="45720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C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VERSIONAMENTO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444752" y="73152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Repositório no GitHub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4160520" cy="4434840"/>
          </a:xfrm>
          <a:prstGeom prst="roundRect">
            <a:avLst>
              <a:gd name="adj" fmla="val 2637"/>
            </a:avLst>
          </a:prstGeom>
          <a:solidFill>
            <a:srgbClr val="4A2E22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057400"/>
            <a:ext cx="640080" cy="640080"/>
          </a:xfrm>
          <a:prstGeom prst="ellipse">
            <a:avLst/>
          </a:prstGeom>
          <a:solidFill>
            <a:srgbClr val="A8452C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pic>
        <p:nvPicPr>
          <p:cNvPr id="8" name="Image 1" descr="/home/claude/apresentacao/icons/git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2223821"/>
            <a:ext cx="307238" cy="30723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1488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6E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Público e versionado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83464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4D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Código-fonte completo publicado via integração nativa do Android Studio (VCS → Share Project on GitHub), sem necessidade de token de acesso pessoal.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22960" y="3977640"/>
            <a:ext cx="3291840" cy="0"/>
          </a:xfrm>
          <a:prstGeom prst="line">
            <a:avLst/>
          </a:prstGeom>
          <a:noFill/>
          <a:ln w="12700">
            <a:solidFill>
              <a:srgbClr val="6E5847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22960" y="41605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D9E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github.com/fabioccf2/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D9E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ConexaoTradicao-App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489204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E4D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 arquivos versionados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E4D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gerado automaticamente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E4D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confirmado (origin/master)</a:t>
            </a:r>
            <a:endParaRPr lang="en-US" sz="1150" dirty="0"/>
          </a:p>
        </p:txBody>
      </p:sp>
      <p:pic>
        <p:nvPicPr>
          <p:cNvPr id="14" name="Image 2" descr="/home/claude/relatorio/github_repo_crop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29200" y="1783080"/>
            <a:ext cx="6629400" cy="348386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029200" y="5358384"/>
            <a:ext cx="6629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público no GitHub com todo o código-fonte do projeto — evidência real do push realizado.</a:t>
            </a:r>
            <a:endParaRPr lang="en-US" sz="1050" dirty="0"/>
          </a:p>
        </p:txBody>
      </p:sp>
      <p:sp>
        <p:nvSpPr>
          <p:cNvPr id="16" name="Text 11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7A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50292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7A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&amp; Tradição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DE1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749808" cy="749808"/>
          </a:xfrm>
          <a:prstGeom prst="ellipse">
            <a:avLst/>
          </a:prstGeom>
          <a:solidFill>
            <a:srgbClr val="5C6B47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pic>
        <p:nvPicPr>
          <p:cNvPr id="3" name="Image 0" descr="/home/claude/apresentacao/icons/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870" y="633862"/>
            <a:ext cx="359908" cy="3599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44752" y="45720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C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444752" y="73152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 e status do projeto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3703320" cy="4434840"/>
          </a:xfrm>
          <a:prstGeom prst="roundRect">
            <a:avLst>
              <a:gd name="adj" fmla="val 2963"/>
            </a:avLst>
          </a:prstGeom>
          <a:solidFill>
            <a:srgbClr val="5C6B47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22960" y="210312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6E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/ 11</a:t>
            </a:r>
            <a:endParaRPr lang="en-US" sz="4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0175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4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funcionais implementados e testados de ponta a ponta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" y="3977640"/>
            <a:ext cx="2971800" cy="0"/>
          </a:xfrm>
          <a:prstGeom prst="line">
            <a:avLst/>
          </a:prstGeom>
          <a:noFill/>
          <a:ln w="12700">
            <a:solidFill>
              <a:srgbClr val="7C8B6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416052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RF01–RF11 cobertos: autenticação, listagem, busca, cadastro de evento, agendamento, chat, localização, avaliação em duas vias e notificações.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480560" y="1783080"/>
            <a:ext cx="3291840" cy="2084832"/>
          </a:xfrm>
          <a:prstGeom prst="roundRect">
            <a:avLst>
              <a:gd name="adj" fmla="val 5263"/>
            </a:avLst>
          </a:prstGeom>
          <a:solidFill>
            <a:srgbClr val="FBF7EE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2011680"/>
            <a:ext cx="502920" cy="502920"/>
          </a:xfrm>
          <a:prstGeom prst="ellipse">
            <a:avLst/>
          </a:prstGeom>
          <a:solidFill>
            <a:srgbClr val="A8452C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pic>
        <p:nvPicPr>
          <p:cNvPr id="13" name="Image 1" descr="/home/claude/apresentacao/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9919" y="2142439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709160" y="26243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Aplicativo funcional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4709160" y="2953512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6B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Testado de ponta a ponta em cenários reais — dois emuladores, duas contas, Firebase integrado em todas as telas.</a:t>
            </a:r>
            <a:endParaRPr lang="en-US" sz="1080" dirty="0"/>
          </a:p>
        </p:txBody>
      </p:sp>
      <p:sp>
        <p:nvSpPr>
          <p:cNvPr id="16" name="Shape 12"/>
          <p:cNvSpPr/>
          <p:nvPr/>
        </p:nvSpPr>
        <p:spPr>
          <a:xfrm>
            <a:off x="8001000" y="1783080"/>
            <a:ext cx="3291840" cy="2084832"/>
          </a:xfrm>
          <a:prstGeom prst="roundRect">
            <a:avLst>
              <a:gd name="adj" fmla="val 5263"/>
            </a:avLst>
          </a:prstGeom>
          <a:solidFill>
            <a:srgbClr val="FBF7EE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0" y="2011680"/>
            <a:ext cx="502920" cy="502920"/>
          </a:xfrm>
          <a:prstGeom prst="ellipse">
            <a:avLst/>
          </a:prstGeom>
          <a:solidFill>
            <a:srgbClr val="A8452C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pic>
        <p:nvPicPr>
          <p:cNvPr id="18" name="Image 2" descr="/home/claude/apresentacao/icons/githu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0359" y="2142439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229600" y="26243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 no GitHub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8229600" y="2953512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6B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público, versionado, com histórico de commits documentando o processo.</a:t>
            </a:r>
            <a:endParaRPr lang="en-US" sz="1080" dirty="0"/>
          </a:p>
        </p:txBody>
      </p:sp>
      <p:sp>
        <p:nvSpPr>
          <p:cNvPr id="21" name="Shape 16"/>
          <p:cNvSpPr/>
          <p:nvPr/>
        </p:nvSpPr>
        <p:spPr>
          <a:xfrm>
            <a:off x="4480560" y="4096512"/>
            <a:ext cx="3291840" cy="2084832"/>
          </a:xfrm>
          <a:prstGeom prst="roundRect">
            <a:avLst>
              <a:gd name="adj" fmla="val 5263"/>
            </a:avLst>
          </a:prstGeom>
          <a:solidFill>
            <a:srgbClr val="FBF7EE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09160" y="4325112"/>
            <a:ext cx="502920" cy="502920"/>
          </a:xfrm>
          <a:prstGeom prst="ellipse">
            <a:avLst/>
          </a:prstGeom>
          <a:solidFill>
            <a:srgbClr val="A8452C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pic>
        <p:nvPicPr>
          <p:cNvPr id="23" name="Image 3" descr="/home/claude/apresentacao/icons/clip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9919" y="4455871"/>
            <a:ext cx="241402" cy="2414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4709160" y="4937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Relatório técnico</a:t>
            </a:r>
            <a:endParaRPr lang="en-US" sz="1350" dirty="0"/>
          </a:p>
        </p:txBody>
      </p:sp>
      <p:sp>
        <p:nvSpPr>
          <p:cNvPr id="25" name="Text 19"/>
          <p:cNvSpPr txBox="1"/>
          <p:nvPr/>
        </p:nvSpPr>
        <p:spPr>
          <a:xfrm>
            <a:off x="4709160" y="5266944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6B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.docx entregue, com requisitos, arquitetura, desafios técnicos e evidências reais de teste.</a:t>
            </a:r>
            <a:endParaRPr lang="en-US" sz="1080" dirty="0"/>
          </a:p>
        </p:txBody>
      </p:sp>
      <p:sp>
        <p:nvSpPr>
          <p:cNvPr id="26" name="Shape 20"/>
          <p:cNvSpPr/>
          <p:nvPr/>
        </p:nvSpPr>
        <p:spPr>
          <a:xfrm>
            <a:off x="8001000" y="4096512"/>
            <a:ext cx="3291840" cy="2084832"/>
          </a:xfrm>
          <a:prstGeom prst="roundRect">
            <a:avLst>
              <a:gd name="adj" fmla="val 5263"/>
            </a:avLst>
          </a:prstGeom>
          <a:solidFill>
            <a:srgbClr val="FBF7EE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229600" y="4325112"/>
            <a:ext cx="502920" cy="502920"/>
          </a:xfrm>
          <a:prstGeom prst="ellipse">
            <a:avLst/>
          </a:prstGeom>
          <a:solidFill>
            <a:srgbClr val="A8452C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pic>
        <p:nvPicPr>
          <p:cNvPr id="28" name="Image 4" descr="/home/claude/apresentacao/icons/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0359" y="4455871"/>
            <a:ext cx="241402" cy="24140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229600" y="4937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Apresentação final</a:t>
            </a:r>
            <a:endParaRPr lang="en-US" sz="1350" dirty="0"/>
          </a:p>
        </p:txBody>
      </p:sp>
      <p:sp>
        <p:nvSpPr>
          <p:cNvPr id="30" name="Text 23"/>
          <p:cNvSpPr txBox="1"/>
          <p:nvPr/>
        </p:nvSpPr>
        <p:spPr>
          <a:xfrm>
            <a:off x="8229600" y="5266944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6B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documento — cobrindo contexto, requisitos, arquitetura, telas, desafios e testes.</a:t>
            </a:r>
            <a:endParaRPr lang="en-US" sz="1080" dirty="0"/>
          </a:p>
        </p:txBody>
      </p:sp>
      <p:sp>
        <p:nvSpPr>
          <p:cNvPr id="31" name="Text 24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7A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32" name="Text 25"/>
          <p:cNvSpPr txBox="1"/>
          <p:nvPr/>
        </p:nvSpPr>
        <p:spPr>
          <a:xfrm>
            <a:off x="50292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7A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&amp; Tradição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4A2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840480"/>
            <a:ext cx="5029200" cy="5029200"/>
          </a:xfrm>
          <a:prstGeom prst="ellipse">
            <a:avLst/>
          </a:prstGeom>
          <a:solidFill>
            <a:srgbClr val="434F34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645920"/>
            <a:ext cx="4206240" cy="4206240"/>
          </a:xfrm>
          <a:prstGeom prst="ellipse">
            <a:avLst/>
          </a:prstGeom>
          <a:solidFill>
            <a:srgbClr val="A8452C">
              <a:alpha val="3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873866" y="624688"/>
            <a:ext cx="2444267" cy="2444267"/>
          </a:xfrm>
          <a:prstGeom prst="ellipse">
            <a:avLst/>
          </a:prstGeom>
          <a:solidFill>
            <a:srgbClr val="A8452C"/>
          </a:solidFill>
          <a:ln/>
          <a:effectLst>
            <a:outerShdw blurRad="76200" dist="38100" dir="5400000" algn="bl" rotWithShape="0">
              <a:srgbClr val="1B120C">
                <a:alpha val="2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0" y="320040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6E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46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406908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4D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&amp; Tradição — reaproximando o campo e a cidade em torno do carneamento comunitário.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0" y="48920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9B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Fabio Costa  ·  UNOESC  · </a:t>
            </a:r>
            <a:r>
              <a:rPr lang="en-US" sz="1200" b="1" kern="0" spc="220" dirty="0" err="1">
                <a:solidFill>
                  <a:srgbClr val="D9B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</a:t>
            </a:r>
            <a:r>
              <a:rPr lang="en-US" sz="1200" b="1" kern="0" spc="220" dirty="0">
                <a:solidFill>
                  <a:srgbClr val="D9B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Mobile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0" y="52578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9E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github.com/fabioccf2/ConexaoTradicao-App</a:t>
            </a:r>
            <a:endParaRPr lang="en-US" sz="1200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2A572403-6075-29FB-75D5-D1F7007AA4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06809" y="1185863"/>
            <a:ext cx="1975333" cy="12668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2347</Words>
  <Application>Microsoft Office PowerPoint</Application>
  <PresentationFormat>Widescreen</PresentationFormat>
  <Paragraphs>281</Paragraphs>
  <Slides>21</Slides>
  <Notes>21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Conexão &amp; Tradição — Apresentação Final</dc:title>
  <dc:subject>PptxGenJS Presentation</dc:subject>
  <dc:creator>Fabio Costa</dc:creator>
  <cp:lastModifiedBy>Fábio Cristiano Costa</cp:lastModifiedBy>
  <cp:revision>18</cp:revision>
  <dcterms:created xsi:type="dcterms:W3CDTF">2026-08-30T17:11:51Z</dcterms:created>
  <dcterms:modified xsi:type="dcterms:W3CDTF">2026-08-31T02:40:43Z</dcterms:modified>
</cp:coreProperties>
</file>